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57"/>
  </p:notesMasterIdLst>
  <p:sldIdLst>
    <p:sldId id="463" r:id="rId2"/>
    <p:sldId id="464" r:id="rId3"/>
    <p:sldId id="465" r:id="rId4"/>
    <p:sldId id="466" r:id="rId5"/>
    <p:sldId id="467" r:id="rId6"/>
    <p:sldId id="263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310" r:id="rId18"/>
    <p:sldId id="268" r:id="rId19"/>
    <p:sldId id="478" r:id="rId20"/>
    <p:sldId id="479" r:id="rId21"/>
    <p:sldId id="271" r:id="rId22"/>
    <p:sldId id="272" r:id="rId23"/>
    <p:sldId id="480" r:id="rId24"/>
    <p:sldId id="274" r:id="rId25"/>
    <p:sldId id="299" r:id="rId26"/>
    <p:sldId id="481" r:id="rId27"/>
    <p:sldId id="276" r:id="rId28"/>
    <p:sldId id="482" r:id="rId29"/>
    <p:sldId id="277" r:id="rId30"/>
    <p:sldId id="483" r:id="rId31"/>
    <p:sldId id="279" r:id="rId32"/>
    <p:sldId id="301" r:id="rId33"/>
    <p:sldId id="484" r:id="rId34"/>
    <p:sldId id="485" r:id="rId35"/>
    <p:sldId id="302" r:id="rId36"/>
    <p:sldId id="486" r:id="rId37"/>
    <p:sldId id="487" r:id="rId38"/>
    <p:sldId id="488" r:id="rId39"/>
    <p:sldId id="489" r:id="rId40"/>
    <p:sldId id="490" r:id="rId41"/>
    <p:sldId id="491" r:id="rId42"/>
    <p:sldId id="492" r:id="rId43"/>
    <p:sldId id="493" r:id="rId44"/>
    <p:sldId id="494" r:id="rId45"/>
    <p:sldId id="495" r:id="rId46"/>
    <p:sldId id="284" r:id="rId47"/>
    <p:sldId id="496" r:id="rId48"/>
    <p:sldId id="497" r:id="rId49"/>
    <p:sldId id="498" r:id="rId50"/>
    <p:sldId id="499" r:id="rId51"/>
    <p:sldId id="500" r:id="rId52"/>
    <p:sldId id="501" r:id="rId53"/>
    <p:sldId id="502" r:id="rId54"/>
    <p:sldId id="503" r:id="rId55"/>
    <p:sldId id="462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6C783-014A-4E5B-A5A2-DA1E0974B2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0996A-6487-4F40-9A27-8FF473B35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3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84F63FF2-319A-EF0A-3481-50D68F5105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ED36834-B773-424D-AC4B-4EF647A32CD2}" type="slidenum">
              <a:rPr lang="en-US" altLang="en-US"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F7F9539-7063-3392-CB75-E3A50314DB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989A848-0449-577E-671E-BE067CA76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1AAB918-8539-35B4-508D-4EC7F92BE9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7400D1B-9967-4F67-92D4-2E44E7643BEE}" type="slidenum">
              <a:rPr lang="en-US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6A2995E-483B-3FF1-8A0D-9AA759EA3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6BFCC83D-44EF-C8E3-67EB-F227E8EB0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8E9BC47F-A04B-5E64-274B-B968E18B74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E9BE74D-524C-49BF-8EB0-66F03C7191B1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658BCF3-56BB-6849-9E67-1C0448A1F9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3625F1A-D03C-C33B-0D9A-EB44E21C3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CD9F54D-37A9-7D38-F2F1-D11158181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D002066-61DF-493B-9C4A-2729CAE779BA}" type="slidenum">
              <a:rPr lang="en-US" altLang="en-US"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512D6A92-B34C-DBEE-6A06-E0A82FC98B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2E3AAA8-E330-F807-6C67-261F7D867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36149917-917E-D4C9-32DC-D22097319D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85EFCDB-00A5-4892-816E-C16AAFC01617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7ECD383-8BBE-BCF7-2F0E-8D31C6C2D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8CD012D-084B-6F94-B9F7-7C3A91B72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A26C0401-7C3B-8CB2-262C-25AFF2147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2DF529-10DF-4583-A1A8-05761870A88D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DA52D31-1AD9-AB7C-09CA-626EDCC7B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8C946CC-D7B7-E323-B9AC-C15FFFD4C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80D07FB6-49D6-2AA0-0E0C-3F5EE244FB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61AB426-9169-4EB8-9F1C-434BCEA1B41B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1EFC5E5-779A-94B6-DF9A-E7CECEFC31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47A7B69-C365-822E-CC24-7FED769D6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1AD44D2C-C221-C5D9-25FD-8B417C888F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C678EB-1893-4396-95C9-C29E70700DEA}" type="slidenum">
              <a:rPr lang="en-US" altLang="en-US"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BD1952E-398F-0B9A-598F-735109529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916272E-A0AF-D57A-89E7-C4814B111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7C3-908F-4A7B-B87E-169DC520022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5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46A0-7164-43EB-A061-5DE8734EB041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4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1A990A7-3BB7-4CF9-9989-C41F33E5696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Dr.V.Ajantha Devi, Research Head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0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021C6-38E5-4E93-A125-2F4772D76357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2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D14A-29AC-4773-B053-67CC7EF890D7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75E0-9D73-4AB8-AD28-2DA31B825B0C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5A62-CEC2-4196-A556-4EBF7C8F4107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FA417-7B03-405B-A697-48026799E3BC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7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FFCB-D695-4F7D-B340-B2FBCF44ECE4}" type="datetime1">
              <a:rPr lang="en-US" smtClean="0"/>
              <a:t>8/5/2026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2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68C2D-BF1A-483F-950E-B5B75B4D4602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5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E21F-FDEA-47B8-9D49-F1DE1132CA0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5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1FCA9D4-A56E-48AB-9573-DE3EECD707F0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Dr.V.Ajantha Devi, Research Head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139BFD9-7F67-435F-A4E5-E749888D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4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5.jpe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5.jpeg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8.wmf"/><Relationship Id="rId10" Type="http://schemas.openxmlformats.org/officeDocument/2006/relationships/image" Target="../media/image5.jpe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5.jpeg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9.wmf"/><Relationship Id="rId4" Type="http://schemas.openxmlformats.org/officeDocument/2006/relationships/oleObject" Target="../embeddings/oleObject3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3/3f/Monty_open_door.sv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6.png"/><Relationship Id="rId3" Type="http://schemas.openxmlformats.org/officeDocument/2006/relationships/hyperlink" Target="http://en.wikipedia.org/wiki/Image:Pfeil.png" TargetMode="External"/><Relationship Id="rId7" Type="http://schemas.openxmlformats.org/officeDocument/2006/relationships/hyperlink" Target="http://en.wikipedia.org/wiki/Image:Monty-CurlyPicksGoatB.svg" TargetMode="External"/><Relationship Id="rId12" Type="http://schemas.openxmlformats.org/officeDocument/2006/relationships/hyperlink" Target="http://en.wikipedia.org/wiki/Image:Monty-SwitchfromGoatA.svg" TargetMode="External"/><Relationship Id="rId1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Image:Monty-CurlyPicksGoatA.svg" TargetMode="External"/><Relationship Id="rId11" Type="http://schemas.openxmlformats.org/officeDocument/2006/relationships/image" Target="../media/image55.png"/><Relationship Id="rId5" Type="http://schemas.openxmlformats.org/officeDocument/2006/relationships/hyperlink" Target="http://en.wikipedia.org/wiki/Image:Monty-CurlyPicksCar.svg" TargetMode="External"/><Relationship Id="rId15" Type="http://schemas.openxmlformats.org/officeDocument/2006/relationships/hyperlink" Target="http://en.wikipedia.org/wiki/Image:Monty-SwitchfromGoatB.svg" TargetMode="External"/><Relationship Id="rId10" Type="http://schemas.openxmlformats.org/officeDocument/2006/relationships/image" Target="../media/image54.png"/><Relationship Id="rId4" Type="http://schemas.openxmlformats.org/officeDocument/2006/relationships/image" Target="../media/image52.png"/><Relationship Id="rId9" Type="http://schemas.openxmlformats.org/officeDocument/2006/relationships/hyperlink" Target="http://en.wikipedia.org/wiki/Image:Monty-DoubleSwitchfromCar.svg" TargetMode="External"/><Relationship Id="rId1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11" Type="http://schemas.openxmlformats.org/officeDocument/2006/relationships/image" Target="../media/image5.jpeg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4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6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6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69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5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4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4A0BD41-8341-D27A-BB39-E7E32D548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90CDFF2-3DE7-6E86-D6A1-DC49A3A8F6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3836F-FE0A-6D6B-F9C0-E28B524B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580C1DF-202E-633B-A947-5314F8BF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1DAE0B06-958E-9DAC-780A-95787D92189A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022EF-5EA6-64C4-ABDB-EB030267B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1E363-EFC6-D4D9-F95F-B21E5069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35E2F-FA73-EDF4-63EE-9D415729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75BB2BA6-46FD-3E88-236B-8A1E50BD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Sample space and Events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12A2868A-1E9C-C26D-9857-31E45BD19E1C}"/>
              </a:ext>
            </a:extLst>
          </p:cNvPr>
          <p:cNvSpPr txBox="1">
            <a:spLocks/>
          </p:cNvSpPr>
          <p:nvPr/>
        </p:nvSpPr>
        <p:spPr bwMode="auto"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sp>
        <p:nvSpPr>
          <p:cNvPr id="32772" name="Content Placeholder 2">
            <a:extLst>
              <a:ext uri="{FF2B5EF4-FFF2-40B4-BE49-F238E27FC236}">
                <a16:creationId xmlns:a16="http://schemas.microsoft.com/office/drawing/2014/main" id="{702FF678-F885-F0BF-76AA-D31C751F3107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Symbol" panose="05050102010706020507" pitchFamily="18" charset="2"/>
              </a:rPr>
              <a:t>W : </a:t>
            </a:r>
            <a:r>
              <a:rPr lang="en-US" altLang="en-US" sz="3200">
                <a:latin typeface="Calibri" panose="020F0502020204030204" pitchFamily="34" charset="0"/>
              </a:rPr>
              <a:t>Sample Space, result of an experiment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If you toss a coin twice </a:t>
            </a:r>
            <a:r>
              <a:rPr lang="en-US" altLang="en-US" sz="2800">
                <a:latin typeface="Symbol" panose="05050102010706020507" pitchFamily="18" charset="2"/>
              </a:rPr>
              <a:t>W = {HH,HT,TH,TT}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Event: a subset of </a:t>
            </a:r>
            <a:r>
              <a:rPr lang="en-US" altLang="en-US" sz="2800">
                <a:latin typeface="Symbol" panose="05050102010706020507" pitchFamily="18" charset="2"/>
              </a:rPr>
              <a:t>W	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First toss is head = {HH,HT}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S: event space, a set of events</a:t>
            </a:r>
            <a:r>
              <a:rPr lang="en-US" altLang="en-US" sz="2800">
                <a:latin typeface="Symbol" panose="05050102010706020507" pitchFamily="18" charset="2"/>
              </a:rPr>
              <a:t>: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Closed under finite union and complements</a:t>
            </a:r>
          </a:p>
          <a:p>
            <a:pPr lvl="2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Entails other binary operation: union, diff, etc.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Contains the empty event and </a:t>
            </a:r>
            <a:r>
              <a:rPr lang="en-US" altLang="en-US" sz="2800">
                <a:latin typeface="Symbol" panose="05050102010706020507" pitchFamily="18" charset="2"/>
              </a:rPr>
              <a:t>W</a:t>
            </a:r>
            <a:endParaRPr lang="en-US" altLang="en-US" sz="28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98743-707E-B322-D071-E093ADD1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5D845-E7C4-9D4E-13F3-5FFE40C8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34884-7F2E-050F-FC28-8D526718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F1E63360-1A07-C28F-42F7-CFF334AC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Measure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8ACDEFE0-D5DE-4F2E-6C8D-BA583B6F18E0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Defined over (</a:t>
            </a:r>
            <a:r>
              <a:rPr lang="en-US" altLang="en-US" sz="3200">
                <a:latin typeface="Symbol" panose="05050102010706020507" pitchFamily="18" charset="2"/>
              </a:rPr>
              <a:t>W,</a:t>
            </a:r>
            <a:r>
              <a:rPr lang="en-US" altLang="en-US" sz="3200">
                <a:latin typeface="Calibri" panose="020F0502020204030204" pitchFamily="34" charset="0"/>
              </a:rPr>
              <a:t>S</a:t>
            </a:r>
            <a:r>
              <a:rPr lang="en-US" altLang="en-US" sz="3200">
                <a:latin typeface="Symbol" panose="05050102010706020507" pitchFamily="18" charset="2"/>
              </a:rPr>
              <a:t>) </a:t>
            </a:r>
            <a:r>
              <a:rPr lang="en-US" altLang="en-US" sz="3200">
                <a:latin typeface="Calibri" panose="020F0502020204030204" pitchFamily="34" charset="0"/>
              </a:rPr>
              <a:t>s.t.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) &gt;= 0 for all 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 in 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</a:t>
            </a:r>
            <a:r>
              <a:rPr lang="en-US" altLang="en-US" sz="3200">
                <a:latin typeface="Symbol" panose="05050102010706020507" pitchFamily="18" charset="2"/>
              </a:rPr>
              <a:t>W</a:t>
            </a:r>
            <a:r>
              <a:rPr lang="en-US" altLang="en-US" sz="3200">
                <a:latin typeface="Calibri" panose="020F0502020204030204" pitchFamily="34" charset="0"/>
              </a:rPr>
              <a:t>) = 1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If </a:t>
            </a:r>
            <a:r>
              <a:rPr lang="en-US" altLang="en-US" sz="3200">
                <a:latin typeface="Symbol" panose="05050102010706020507" pitchFamily="18" charset="2"/>
              </a:rPr>
              <a:t>a, b</a:t>
            </a:r>
            <a:r>
              <a:rPr lang="en-US" altLang="en-US" sz="3200">
                <a:latin typeface="Calibri" panose="020F0502020204030204" pitchFamily="34" charset="0"/>
              </a:rPr>
              <a:t> are disjoint, then </a:t>
            </a:r>
          </a:p>
          <a:p>
            <a:pPr lvl="2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 U </a:t>
            </a:r>
            <a:r>
              <a:rPr lang="en-US" altLang="en-US" sz="3200">
                <a:latin typeface="Symbol" panose="05050102010706020507" pitchFamily="18" charset="2"/>
              </a:rPr>
              <a:t>b</a:t>
            </a:r>
            <a:r>
              <a:rPr lang="en-US" altLang="en-US" sz="3200">
                <a:latin typeface="Calibri" panose="020F0502020204030204" pitchFamily="34" charset="0"/>
              </a:rPr>
              <a:t>) = 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) + p(</a:t>
            </a:r>
            <a:r>
              <a:rPr lang="en-US" altLang="en-US" sz="3200">
                <a:latin typeface="Symbol" panose="05050102010706020507" pitchFamily="18" charset="2"/>
              </a:rPr>
              <a:t>b</a:t>
            </a:r>
            <a:r>
              <a:rPr lang="en-US" altLang="en-US" sz="3200">
                <a:latin typeface="Calibri" panose="020F0502020204030204" pitchFamily="34" charset="0"/>
              </a:rPr>
              <a:t>)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We can deduce other axioms from the above ones</a:t>
            </a:r>
          </a:p>
          <a:p>
            <a:pPr lvl="3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Ex: 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 U </a:t>
            </a:r>
            <a:r>
              <a:rPr lang="en-US" altLang="en-US" sz="3200">
                <a:latin typeface="Symbol" panose="05050102010706020507" pitchFamily="18" charset="2"/>
              </a:rPr>
              <a:t>b</a:t>
            </a:r>
            <a:r>
              <a:rPr lang="en-US" altLang="en-US" sz="3200">
                <a:latin typeface="Calibri" panose="020F0502020204030204" pitchFamily="34" charset="0"/>
              </a:rPr>
              <a:t>) for non-disjoint event</a:t>
            </a:r>
          </a:p>
          <a:p>
            <a:pPr lvl="3" eaLnBrk="1" hangingPunct="1">
              <a:spcBef>
                <a:spcPct val="20000"/>
              </a:spcBef>
            </a:pPr>
            <a:r>
              <a:rPr lang="en-US" altLang="en-US" sz="3200">
                <a:latin typeface="Calibri" panose="020F0502020204030204" pitchFamily="34" charset="0"/>
              </a:rPr>
              <a:t>	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 U </a:t>
            </a:r>
            <a:r>
              <a:rPr lang="en-US" altLang="en-US" sz="3200">
                <a:latin typeface="Symbol" panose="05050102010706020507" pitchFamily="18" charset="2"/>
              </a:rPr>
              <a:t>b</a:t>
            </a:r>
            <a:r>
              <a:rPr lang="en-US" altLang="en-US" sz="3200">
                <a:latin typeface="Calibri" panose="020F0502020204030204" pitchFamily="34" charset="0"/>
              </a:rPr>
              <a:t>) = p(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>
                <a:latin typeface="Calibri" panose="020F0502020204030204" pitchFamily="34" charset="0"/>
              </a:rPr>
              <a:t>) + p(</a:t>
            </a:r>
            <a:r>
              <a:rPr lang="en-US" altLang="en-US" sz="3200">
                <a:latin typeface="Symbol" panose="05050102010706020507" pitchFamily="18" charset="2"/>
              </a:rPr>
              <a:t>b</a:t>
            </a:r>
            <a:r>
              <a:rPr lang="en-US" altLang="en-US" sz="3200">
                <a:latin typeface="Calibri" panose="020F0502020204030204" pitchFamily="34" charset="0"/>
              </a:rPr>
              <a:t>) – p(</a:t>
            </a:r>
            <a:r>
              <a:rPr lang="en-US" altLang="en-US" sz="3200">
                <a:latin typeface="Symbol" panose="05050102010706020507" pitchFamily="18" charset="2"/>
              </a:rPr>
              <a:t>a </a:t>
            </a:r>
            <a:r>
              <a:rPr lang="en-US" altLang="en-US" sz="3200"/>
              <a:t>∩ </a:t>
            </a:r>
            <a:r>
              <a:rPr lang="en-US" altLang="en-US" sz="3200">
                <a:latin typeface="Symbol" panose="05050102010706020507" pitchFamily="18" charset="2"/>
              </a:rPr>
              <a:t>b)</a:t>
            </a:r>
            <a:endParaRPr lang="en-US" altLang="en-US" sz="3200">
              <a:latin typeface="Calibri" panose="020F0502020204030204" pitchFamily="34" charset="0"/>
            </a:endParaRPr>
          </a:p>
          <a:p>
            <a:pPr lvl="3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A3BDB-9B38-6C53-6884-E14C4783C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EC096-5A14-6405-2851-7D3FC893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60FDF-875E-1D08-8625-6038AFC1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0C55C1F-5D60-B80A-22C6-E007472E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Visualization</a:t>
            </a:r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6392587-7654-7129-1A60-D7BD3A2A8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295400"/>
            <a:ext cx="63341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Content Placeholder 2">
            <a:extLst>
              <a:ext uri="{FF2B5EF4-FFF2-40B4-BE49-F238E27FC236}">
                <a16:creationId xmlns:a16="http://schemas.microsoft.com/office/drawing/2014/main" id="{D62B15EE-768F-7ACC-6E8F-F98CADAA0EA9}"/>
              </a:ext>
            </a:extLst>
          </p:cNvPr>
          <p:cNvSpPr txBox="1">
            <a:spLocks/>
          </p:cNvSpPr>
          <p:nvPr/>
        </p:nvSpPr>
        <p:spPr bwMode="auto">
          <a:xfrm>
            <a:off x="2133600" y="3962401"/>
            <a:ext cx="8229600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We can go on and define conditional probability, using the above visualization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4E517-1A04-4A88-E88B-C152DAF72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89363-26C7-7781-CE33-27D666B9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CDEA0-3B95-C7C9-7743-238C422E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>
            <a:extLst>
              <a:ext uri="{FF2B5EF4-FFF2-40B4-BE49-F238E27FC236}">
                <a16:creationId xmlns:a16="http://schemas.microsoft.com/office/drawing/2014/main" id="{3AAD64F1-9949-1873-73A8-B626ACB8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Conditional Probability</a:t>
            </a:r>
          </a:p>
        </p:txBody>
      </p:sp>
      <p:sp>
        <p:nvSpPr>
          <p:cNvPr id="1028" name="Content Placeholder 2">
            <a:extLst>
              <a:ext uri="{FF2B5EF4-FFF2-40B4-BE49-F238E27FC236}">
                <a16:creationId xmlns:a16="http://schemas.microsoft.com/office/drawing/2014/main" id="{BD0942C8-C916-CAEB-5535-6019D4C57D1E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</a:rPr>
              <a:t>P(F|H) = Fraction of worlds in which H is true that also have F true</a:t>
            </a:r>
          </a:p>
          <a:p>
            <a:pPr lvl="1" eaLnBrk="1" hangingPunct="1">
              <a:buFontTx/>
              <a:buChar char="-"/>
            </a:pP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1029" name="Picture 2">
            <a:extLst>
              <a:ext uri="{FF2B5EF4-FFF2-40B4-BE49-F238E27FC236}">
                <a16:creationId xmlns:a16="http://schemas.microsoft.com/office/drawing/2014/main" id="{DAA37948-AA72-0692-7777-B82E28120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2667000"/>
            <a:ext cx="26384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7616C76C-F0BF-8510-EE3A-631B56C65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3276600"/>
          <a:ext cx="2819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3880" imgH="482400" progId="Equation.3">
                  <p:embed/>
                </p:oleObj>
              </mc:Choice>
              <mc:Fallback>
                <p:oleObj name="Equation" r:id="rId3" imgW="1523880" imgH="482400" progId="Equation.3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7616C76C-F0BF-8510-EE3A-631B56C65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276600"/>
                        <a:ext cx="2819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4D61A0D-7E7A-9227-B4A1-4BF030401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FC7CD-3A9B-1307-4209-EE7CFC31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25443-8C91-F439-ABA8-413F0280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>
            <a:extLst>
              <a:ext uri="{FF2B5EF4-FFF2-40B4-BE49-F238E27FC236}">
                <a16:creationId xmlns:a16="http://schemas.microsoft.com/office/drawing/2014/main" id="{9204CBD3-D9CC-56B4-DAA2-452EE44E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Rule of total probability</a:t>
            </a:r>
          </a:p>
        </p:txBody>
      </p:sp>
      <p:sp>
        <p:nvSpPr>
          <p:cNvPr id="2052" name="Content Placeholder 2">
            <a:extLst>
              <a:ext uri="{FF2B5EF4-FFF2-40B4-BE49-F238E27FC236}">
                <a16:creationId xmlns:a16="http://schemas.microsoft.com/office/drawing/2014/main" id="{C31685E3-87E2-B6E8-7C85-2C2DE3387E8C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D6157-A2F3-7D86-1BD7-CC3E8BBFAEAB}"/>
              </a:ext>
            </a:extLst>
          </p:cNvPr>
          <p:cNvSpPr/>
          <p:nvPr/>
        </p:nvSpPr>
        <p:spPr>
          <a:xfrm>
            <a:off x="3505200" y="1524000"/>
            <a:ext cx="4191000" cy="2057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3E8BE68-F780-36D1-7B79-74965A09952E}"/>
              </a:ext>
            </a:extLst>
          </p:cNvPr>
          <p:cNvSpPr/>
          <p:nvPr/>
        </p:nvSpPr>
        <p:spPr>
          <a:xfrm>
            <a:off x="6375400" y="1511300"/>
            <a:ext cx="1308100" cy="1106488"/>
          </a:xfrm>
          <a:custGeom>
            <a:avLst/>
            <a:gdLst>
              <a:gd name="connsiteX0" fmla="*/ 0 w 1309035"/>
              <a:gd name="connsiteY0" fmla="*/ 0 h 1106906"/>
              <a:gd name="connsiteX1" fmla="*/ 365760 w 1309035"/>
              <a:gd name="connsiteY1" fmla="*/ 885525 h 1106906"/>
              <a:gd name="connsiteX2" fmla="*/ 1309035 w 1309035"/>
              <a:gd name="connsiteY2" fmla="*/ 1106906 h 1106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9035" h="1106906">
                <a:moveTo>
                  <a:pt x="0" y="0"/>
                </a:moveTo>
                <a:cubicBezTo>
                  <a:pt x="73794" y="350520"/>
                  <a:pt x="147588" y="701041"/>
                  <a:pt x="365760" y="885525"/>
                </a:cubicBezTo>
                <a:cubicBezTo>
                  <a:pt x="583932" y="1070009"/>
                  <a:pt x="946483" y="1088457"/>
                  <a:pt x="1309035" y="110690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A6900D7-9E50-394C-3530-B96861F4DFEF}"/>
              </a:ext>
            </a:extLst>
          </p:cNvPr>
          <p:cNvSpPr/>
          <p:nvPr/>
        </p:nvSpPr>
        <p:spPr>
          <a:xfrm>
            <a:off x="5929314" y="2193925"/>
            <a:ext cx="657225" cy="1397000"/>
          </a:xfrm>
          <a:custGeom>
            <a:avLst/>
            <a:gdLst>
              <a:gd name="connsiteX0" fmla="*/ 657726 w 657726"/>
              <a:gd name="connsiteY0" fmla="*/ 0 h 1395663"/>
              <a:gd name="connsiteX1" fmla="*/ 109086 w 657726"/>
              <a:gd name="connsiteY1" fmla="*/ 644893 h 1395663"/>
              <a:gd name="connsiteX2" fmla="*/ 3209 w 657726"/>
              <a:gd name="connsiteY2" fmla="*/ 1395663 h 139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7726" h="1395663">
                <a:moveTo>
                  <a:pt x="657726" y="0"/>
                </a:moveTo>
                <a:cubicBezTo>
                  <a:pt x="437949" y="206141"/>
                  <a:pt x="218172" y="412283"/>
                  <a:pt x="109086" y="644893"/>
                </a:cubicBezTo>
                <a:cubicBezTo>
                  <a:pt x="0" y="877503"/>
                  <a:pt x="20855" y="1270535"/>
                  <a:pt x="3209" y="139566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4EF5EE6-511F-FB3B-8C9A-90F1D3D7E00A}"/>
              </a:ext>
            </a:extLst>
          </p:cNvPr>
          <p:cNvSpPr/>
          <p:nvPr/>
        </p:nvSpPr>
        <p:spPr>
          <a:xfrm>
            <a:off x="4314825" y="1511300"/>
            <a:ext cx="1684338" cy="1404938"/>
          </a:xfrm>
          <a:custGeom>
            <a:avLst/>
            <a:gdLst>
              <a:gd name="connsiteX0" fmla="*/ 1684421 w 1684421"/>
              <a:gd name="connsiteY0" fmla="*/ 1405289 h 1405289"/>
              <a:gd name="connsiteX1" fmla="*/ 462013 w 1684421"/>
              <a:gd name="connsiteY1" fmla="*/ 1058779 h 1405289"/>
              <a:gd name="connsiteX2" fmla="*/ 0 w 1684421"/>
              <a:gd name="connsiteY2" fmla="*/ 0 h 140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4421" h="1405289">
                <a:moveTo>
                  <a:pt x="1684421" y="1405289"/>
                </a:moveTo>
                <a:cubicBezTo>
                  <a:pt x="1213585" y="1349141"/>
                  <a:pt x="742750" y="1292994"/>
                  <a:pt x="462013" y="1058779"/>
                </a:cubicBezTo>
                <a:cubicBezTo>
                  <a:pt x="181276" y="824564"/>
                  <a:pt x="77002" y="173255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6B46BC9-C2CF-96ED-4920-22F032B1199D}"/>
              </a:ext>
            </a:extLst>
          </p:cNvPr>
          <p:cNvSpPr/>
          <p:nvPr/>
        </p:nvSpPr>
        <p:spPr>
          <a:xfrm>
            <a:off x="3487738" y="2406650"/>
            <a:ext cx="1135062" cy="673100"/>
          </a:xfrm>
          <a:custGeom>
            <a:avLst/>
            <a:gdLst>
              <a:gd name="connsiteX0" fmla="*/ 1135781 w 1135781"/>
              <a:gd name="connsiteY0" fmla="*/ 0 h 673768"/>
              <a:gd name="connsiteX1" fmla="*/ 702644 w 1135781"/>
              <a:gd name="connsiteY1" fmla="*/ 529389 h 673768"/>
              <a:gd name="connsiteX2" fmla="*/ 0 w 1135781"/>
              <a:gd name="connsiteY2" fmla="*/ 673768 h 67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781" h="673768">
                <a:moveTo>
                  <a:pt x="1135781" y="0"/>
                </a:moveTo>
                <a:cubicBezTo>
                  <a:pt x="1013861" y="208547"/>
                  <a:pt x="891941" y="417094"/>
                  <a:pt x="702644" y="529389"/>
                </a:cubicBezTo>
                <a:cubicBezTo>
                  <a:pt x="513347" y="641684"/>
                  <a:pt x="256673" y="657726"/>
                  <a:pt x="0" y="67376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D4A58D-5B5A-A265-0105-B4A1C441E6A0}"/>
              </a:ext>
            </a:extLst>
          </p:cNvPr>
          <p:cNvSpPr/>
          <p:nvPr/>
        </p:nvSpPr>
        <p:spPr>
          <a:xfrm>
            <a:off x="4800600" y="2209800"/>
            <a:ext cx="1447800" cy="1143000"/>
          </a:xfrm>
          <a:prstGeom prst="ellipse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  <a:ea typeface="ＭＳ Ｐゴシック" charset="-128"/>
              </a:rPr>
              <a:t>A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509BCA-13EE-7CB6-F7F6-EDBA187353D5}"/>
              </a:ext>
            </a:extLst>
          </p:cNvPr>
          <p:cNvSpPr/>
          <p:nvPr/>
        </p:nvSpPr>
        <p:spPr>
          <a:xfrm>
            <a:off x="5335589" y="1511301"/>
            <a:ext cx="503237" cy="1298575"/>
          </a:xfrm>
          <a:custGeom>
            <a:avLst/>
            <a:gdLst>
              <a:gd name="connsiteX0" fmla="*/ 0 w 503723"/>
              <a:gd name="connsiteY0" fmla="*/ 1299411 h 1299411"/>
              <a:gd name="connsiteX1" fmla="*/ 462013 w 503723"/>
              <a:gd name="connsiteY1" fmla="*/ 442762 h 1299411"/>
              <a:gd name="connsiteX2" fmla="*/ 250257 w 503723"/>
              <a:gd name="connsiteY2" fmla="*/ 0 h 1299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3723" h="1299411">
                <a:moveTo>
                  <a:pt x="0" y="1299411"/>
                </a:moveTo>
                <a:cubicBezTo>
                  <a:pt x="210152" y="979371"/>
                  <a:pt x="420304" y="659331"/>
                  <a:pt x="462013" y="442762"/>
                </a:cubicBezTo>
                <a:cubicBezTo>
                  <a:pt x="503723" y="226194"/>
                  <a:pt x="290362" y="72189"/>
                  <a:pt x="250257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2786715-2451-97BE-0CC9-3D8B7EA0CCB3}"/>
              </a:ext>
            </a:extLst>
          </p:cNvPr>
          <p:cNvSpPr/>
          <p:nvPr/>
        </p:nvSpPr>
        <p:spPr>
          <a:xfrm>
            <a:off x="4094163" y="2974975"/>
            <a:ext cx="673100" cy="604838"/>
          </a:xfrm>
          <a:custGeom>
            <a:avLst/>
            <a:gdLst>
              <a:gd name="connsiteX0" fmla="*/ 0 w 673769"/>
              <a:gd name="connsiteY0" fmla="*/ 0 h 606392"/>
              <a:gd name="connsiteX1" fmla="*/ 548640 w 673769"/>
              <a:gd name="connsiteY1" fmla="*/ 269508 h 606392"/>
              <a:gd name="connsiteX2" fmla="*/ 673769 w 673769"/>
              <a:gd name="connsiteY2" fmla="*/ 606392 h 60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769" h="606392">
                <a:moveTo>
                  <a:pt x="0" y="0"/>
                </a:moveTo>
                <a:cubicBezTo>
                  <a:pt x="218172" y="84221"/>
                  <a:pt x="436345" y="168443"/>
                  <a:pt x="548640" y="269508"/>
                </a:cubicBezTo>
                <a:cubicBezTo>
                  <a:pt x="660935" y="370573"/>
                  <a:pt x="667352" y="488482"/>
                  <a:pt x="673769" y="60639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2061" name="TextBox 14">
            <a:extLst>
              <a:ext uri="{FF2B5EF4-FFF2-40B4-BE49-F238E27FC236}">
                <a16:creationId xmlns:a16="http://schemas.microsoft.com/office/drawing/2014/main" id="{F8B30003-B697-4630-4ABD-705C2BE227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29401" y="3048000"/>
            <a:ext cx="56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1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2" name="TextBox 15">
            <a:extLst>
              <a:ext uri="{FF2B5EF4-FFF2-40B4-BE49-F238E27FC236}">
                <a16:creationId xmlns:a16="http://schemas.microsoft.com/office/drawing/2014/main" id="{7E8D7924-4C38-5497-0F10-FA69B686B85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04038" y="1687514"/>
            <a:ext cx="563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2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3" name="TextBox 16">
            <a:extLst>
              <a:ext uri="{FF2B5EF4-FFF2-40B4-BE49-F238E27FC236}">
                <a16:creationId xmlns:a16="http://schemas.microsoft.com/office/drawing/2014/main" id="{F7B831E3-0240-AF3F-77A7-E902BF7FF5F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37238" y="1752600"/>
            <a:ext cx="563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3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4" name="TextBox 17">
            <a:extLst>
              <a:ext uri="{FF2B5EF4-FFF2-40B4-BE49-F238E27FC236}">
                <a16:creationId xmlns:a16="http://schemas.microsoft.com/office/drawing/2014/main" id="{46F637C8-2214-71A8-68E2-F49CA2374A8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733801" y="2057400"/>
            <a:ext cx="56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4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5" name="TextBox 18">
            <a:extLst>
              <a:ext uri="{FF2B5EF4-FFF2-40B4-BE49-F238E27FC236}">
                <a16:creationId xmlns:a16="http://schemas.microsoft.com/office/drawing/2014/main" id="{C304395A-050B-D1A9-4286-3A6938E8DD7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00601" y="1752600"/>
            <a:ext cx="56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5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6" name="TextBox 19">
            <a:extLst>
              <a:ext uri="{FF2B5EF4-FFF2-40B4-BE49-F238E27FC236}">
                <a16:creationId xmlns:a16="http://schemas.microsoft.com/office/drawing/2014/main" id="{ED3B0A5E-1E63-67E1-6BCD-83B47B206C4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00601" y="3200400"/>
            <a:ext cx="56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6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67" name="TextBox 20">
            <a:extLst>
              <a:ext uri="{FF2B5EF4-FFF2-40B4-BE49-F238E27FC236}">
                <a16:creationId xmlns:a16="http://schemas.microsoft.com/office/drawing/2014/main" id="{60A485B8-9AB1-E9F4-8CB5-4FDB6EB51FC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57601" y="3200400"/>
            <a:ext cx="56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  <a:r>
              <a:rPr lang="en-US" altLang="en-US" baseline="-25000">
                <a:latin typeface="Calibri" panose="020F0502020204030204" pitchFamily="34" charset="0"/>
              </a:rPr>
              <a:t>7</a:t>
            </a:r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1A59C1C8-4AF5-B93D-38E7-B2450B02EE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5363" y="4267200"/>
          <a:ext cx="40830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41200" progId="Equation.3">
                  <p:embed/>
                </p:oleObj>
              </mc:Choice>
              <mc:Fallback>
                <p:oleObj name="Equation" r:id="rId2" imgW="1714320" imgH="241200" progId="Equation.3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1A59C1C8-4AF5-B93D-38E7-B2450B02E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4267200"/>
                        <a:ext cx="40830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99457A9-6CFF-C3A7-8BE3-D5BFEDCF7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FB63A-7F5F-910A-4FB0-B2ED5D4F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5F9ED-6CF7-B05D-3C59-014076B6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70DBFBF-74B5-6B9C-88C6-194041C9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From Events to Random Variable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31FBD91-7953-37E8-0851-6F835574BE23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Almost all the semester we will be dealing with RV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Concise way of specifying attributes of outcomes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Modeling students (Grade and Intelligence):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Symbol" panose="05050102010706020507" pitchFamily="18" charset="2"/>
              </a:rPr>
              <a:t>W =  </a:t>
            </a:r>
            <a:r>
              <a:rPr lang="en-US" altLang="en-US" sz="2600">
                <a:latin typeface="Calibri" panose="020F0502020204030204" pitchFamily="34" charset="0"/>
              </a:rPr>
              <a:t>all possible students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What are events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Grade_A = all students with grade A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Grade_B = all students with grade 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Intelligence_High = … with high intelligence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Very cumbersome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We need “functions” that maps from </a:t>
            </a:r>
            <a:r>
              <a:rPr lang="en-US" altLang="en-US" sz="2600">
                <a:latin typeface="Symbol" panose="05050102010706020507" pitchFamily="18" charset="2"/>
              </a:rPr>
              <a:t>W </a:t>
            </a:r>
            <a:r>
              <a:rPr lang="en-US" altLang="en-US" sz="2600">
                <a:latin typeface="Calibri" panose="020F0502020204030204" pitchFamily="34" charset="0"/>
              </a:rPr>
              <a:t>to an attribute space.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>
                <a:latin typeface="Calibri" panose="020F0502020204030204" pitchFamily="34" charset="0"/>
              </a:rPr>
              <a:t>P(G = A) = P({student </a:t>
            </a:r>
            <a:r>
              <a:rPr lang="el-GR" altLang="en-US" sz="2600">
                <a:latin typeface="Calibri" panose="020F0502020204030204" pitchFamily="34" charset="0"/>
              </a:rPr>
              <a:t>ϵ</a:t>
            </a:r>
            <a:r>
              <a:rPr lang="en-US" altLang="en-US" sz="2600">
                <a:latin typeface="Calibri" panose="020F0502020204030204" pitchFamily="34" charset="0"/>
              </a:rPr>
              <a:t> </a:t>
            </a:r>
            <a:r>
              <a:rPr lang="en-US" altLang="en-US" sz="2600">
                <a:latin typeface="Symbol" panose="05050102010706020507" pitchFamily="18" charset="2"/>
              </a:rPr>
              <a:t>W : </a:t>
            </a:r>
            <a:r>
              <a:rPr lang="en-US" altLang="en-US" sz="2600">
                <a:latin typeface="Calibri" panose="020F0502020204030204" pitchFamily="34" charset="0"/>
              </a:rPr>
              <a:t>G(student) = A})  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6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6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E53EA-C8CD-C1C8-1A3A-96A88C58A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88702-01E8-0260-5D7C-0A1FF550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9AC65-291E-32E2-4DBA-CC39D3CD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0624935-9479-A4BB-AAAD-C07ADEF0F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Random Variables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23C83C-125C-5F5D-B36F-B9D38DFF428C}"/>
              </a:ext>
            </a:extLst>
          </p:cNvPr>
          <p:cNvSpPr/>
          <p:nvPr/>
        </p:nvSpPr>
        <p:spPr>
          <a:xfrm>
            <a:off x="2286000" y="1524000"/>
            <a:ext cx="2057400" cy="304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585136-52C0-B42C-7EC8-767BF7C9729D}"/>
              </a:ext>
            </a:extLst>
          </p:cNvPr>
          <p:cNvSpPr/>
          <p:nvPr/>
        </p:nvSpPr>
        <p:spPr>
          <a:xfrm>
            <a:off x="7467600" y="914400"/>
            <a:ext cx="1752600" cy="190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B4ECC6DE-D126-765F-2D9A-230652A3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144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200">
                <a:latin typeface="Symbol" panose="05050102010706020507" pitchFamily="18" charset="2"/>
              </a:rPr>
              <a:t>W</a:t>
            </a:r>
            <a:endParaRPr lang="en-US" altLang="en-US" sz="3200">
              <a:latin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1603AC-A119-DB48-EA49-264B08D302FC}"/>
              </a:ext>
            </a:extLst>
          </p:cNvPr>
          <p:cNvSpPr/>
          <p:nvPr/>
        </p:nvSpPr>
        <p:spPr>
          <a:xfrm>
            <a:off x="7620000" y="3200400"/>
            <a:ext cx="17526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pic>
        <p:nvPicPr>
          <p:cNvPr id="36871" name="Picture 8" descr="st.jpg">
            <a:extLst>
              <a:ext uri="{FF2B5EF4-FFF2-40B4-BE49-F238E27FC236}">
                <a16:creationId xmlns:a16="http://schemas.microsoft.com/office/drawing/2014/main" id="{CEE13B43-9DF0-8AAB-878B-908948BE6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05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2" name="TextBox 12">
            <a:extLst>
              <a:ext uri="{FF2B5EF4-FFF2-40B4-BE49-F238E27FC236}">
                <a16:creationId xmlns:a16="http://schemas.microsoft.com/office/drawing/2014/main" id="{006AA22A-8A5C-05E2-BFA6-5962BB5A3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1447800"/>
            <a:ext cx="612775" cy="369888"/>
          </a:xfrm>
          <a:prstGeom prst="rect">
            <a:avLst/>
          </a:prstGeom>
          <a:solidFill>
            <a:schemeClr val="accent1">
              <a:alpha val="8313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1"/>
                </a:solidFill>
                <a:latin typeface="Calibri" panose="020F0502020204030204" pitchFamily="34" charset="0"/>
              </a:rPr>
              <a:t>High</a:t>
            </a:r>
          </a:p>
        </p:txBody>
      </p:sp>
      <p:sp>
        <p:nvSpPr>
          <p:cNvPr id="36873" name="TextBox 13">
            <a:extLst>
              <a:ext uri="{FF2B5EF4-FFF2-40B4-BE49-F238E27FC236}">
                <a16:creationId xmlns:a16="http://schemas.microsoft.com/office/drawing/2014/main" id="{C2279FEB-029D-3D99-5F52-BD8BE37A4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0526" y="2057400"/>
            <a:ext cx="523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low</a:t>
            </a:r>
          </a:p>
        </p:txBody>
      </p:sp>
      <p:sp>
        <p:nvSpPr>
          <p:cNvPr id="36874" name="TextBox 14">
            <a:extLst>
              <a:ext uri="{FF2B5EF4-FFF2-40B4-BE49-F238E27FC236}">
                <a16:creationId xmlns:a16="http://schemas.microsoft.com/office/drawing/2014/main" id="{4D9A1F6B-BFA2-D028-5BC6-0163557E2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657600"/>
            <a:ext cx="317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36875" name="TextBox 15">
            <a:extLst>
              <a:ext uri="{FF2B5EF4-FFF2-40B4-BE49-F238E27FC236}">
                <a16:creationId xmlns:a16="http://schemas.microsoft.com/office/drawing/2014/main" id="{5BA8D359-4100-DCF2-8E67-8A7F2370D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4114800"/>
            <a:ext cx="309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36876" name="TextBox 16">
            <a:extLst>
              <a:ext uri="{FF2B5EF4-FFF2-40B4-BE49-F238E27FC236}">
                <a16:creationId xmlns:a16="http://schemas.microsoft.com/office/drawing/2014/main" id="{25B02BE5-ACAB-9F10-9A2C-31E75A570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5838" y="4038600"/>
            <a:ext cx="461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A+</a:t>
            </a:r>
          </a:p>
        </p:txBody>
      </p:sp>
      <p:sp>
        <p:nvSpPr>
          <p:cNvPr id="36877" name="TextBox 24">
            <a:extLst>
              <a:ext uri="{FF2B5EF4-FFF2-40B4-BE49-F238E27FC236}">
                <a16:creationId xmlns:a16="http://schemas.microsoft.com/office/drawing/2014/main" id="{9A54C542-5130-3986-A19A-80C853D4C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1447800"/>
            <a:ext cx="1389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I:Intelligence</a:t>
            </a:r>
          </a:p>
        </p:txBody>
      </p:sp>
      <p:sp>
        <p:nvSpPr>
          <p:cNvPr id="36878" name="TextBox 25">
            <a:extLst>
              <a:ext uri="{FF2B5EF4-FFF2-40B4-BE49-F238E27FC236}">
                <a16:creationId xmlns:a16="http://schemas.microsoft.com/office/drawing/2014/main" id="{4F00F31C-5648-1801-28C7-BABAB72BF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41148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G:Grade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61EBE7A-35B6-E5A8-BDB0-512BF8998489}"/>
              </a:ext>
            </a:extLst>
          </p:cNvPr>
          <p:cNvSpPr/>
          <p:nvPr/>
        </p:nvSpPr>
        <p:spPr>
          <a:xfrm>
            <a:off x="4191001" y="1966914"/>
            <a:ext cx="3300413" cy="395287"/>
          </a:xfrm>
          <a:custGeom>
            <a:avLst/>
            <a:gdLst>
              <a:gd name="connsiteX0" fmla="*/ 0 w 3157086"/>
              <a:gd name="connsiteY0" fmla="*/ 1578543 h 1578543"/>
              <a:gd name="connsiteX1" fmla="*/ 1973179 w 3157086"/>
              <a:gd name="connsiteY1" fmla="*/ 317634 h 1578543"/>
              <a:gd name="connsiteX2" fmla="*/ 3157086 w 3157086"/>
              <a:gd name="connsiteY2" fmla="*/ 0 h 157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7086" h="1578543">
                <a:moveTo>
                  <a:pt x="0" y="1578543"/>
                </a:moveTo>
                <a:cubicBezTo>
                  <a:pt x="723499" y="1079634"/>
                  <a:pt x="1446998" y="580725"/>
                  <a:pt x="1973179" y="317634"/>
                </a:cubicBezTo>
                <a:cubicBezTo>
                  <a:pt x="2499360" y="54544"/>
                  <a:pt x="2828223" y="27272"/>
                  <a:pt x="3157086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F7615B4-65A8-F12D-1148-05F2F9C838D4}"/>
              </a:ext>
            </a:extLst>
          </p:cNvPr>
          <p:cNvSpPr/>
          <p:nvPr/>
        </p:nvSpPr>
        <p:spPr>
          <a:xfrm>
            <a:off x="4267200" y="3581400"/>
            <a:ext cx="3352800" cy="533400"/>
          </a:xfrm>
          <a:custGeom>
            <a:avLst/>
            <a:gdLst>
              <a:gd name="connsiteX0" fmla="*/ 0 w 3262965"/>
              <a:gd name="connsiteY0" fmla="*/ 0 h 896754"/>
              <a:gd name="connsiteX1" fmla="*/ 1183908 w 3262965"/>
              <a:gd name="connsiteY1" fmla="*/ 750771 h 896754"/>
              <a:gd name="connsiteX2" fmla="*/ 3262965 w 3262965"/>
              <a:gd name="connsiteY2" fmla="*/ 875899 h 8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2965" h="896754">
                <a:moveTo>
                  <a:pt x="0" y="0"/>
                </a:moveTo>
                <a:cubicBezTo>
                  <a:pt x="320040" y="302394"/>
                  <a:pt x="640081" y="604788"/>
                  <a:pt x="1183908" y="750771"/>
                </a:cubicBezTo>
                <a:cubicBezTo>
                  <a:pt x="1727735" y="896754"/>
                  <a:pt x="2495350" y="886326"/>
                  <a:pt x="3262965" y="875899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36881" name="TextBox 34">
            <a:extLst>
              <a:ext uri="{FF2B5EF4-FFF2-40B4-BE49-F238E27FC236}">
                <a16:creationId xmlns:a16="http://schemas.microsoft.com/office/drawing/2014/main" id="{4554BA41-8C6A-BCCB-EB46-A30879EA3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5562600"/>
            <a:ext cx="5338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P(I = high) = P( {all students whose intelligence is high})</a:t>
            </a:r>
          </a:p>
        </p:txBody>
      </p:sp>
      <p:pic>
        <p:nvPicPr>
          <p:cNvPr id="36882" name="Picture 35" descr="cartoon2.jpg">
            <a:extLst>
              <a:ext uri="{FF2B5EF4-FFF2-40B4-BE49-F238E27FC236}">
                <a16:creationId xmlns:a16="http://schemas.microsoft.com/office/drawing/2014/main" id="{9B07C145-0489-49F4-6C83-6E93B798C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9" r="4286" b="48190"/>
          <a:stretch>
            <a:fillRect/>
          </a:stretch>
        </p:blipFill>
        <p:spPr bwMode="auto">
          <a:xfrm>
            <a:off x="2743200" y="3886200"/>
            <a:ext cx="452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36" descr="phdcomics.jpg">
            <a:extLst>
              <a:ext uri="{FF2B5EF4-FFF2-40B4-BE49-F238E27FC236}">
                <a16:creationId xmlns:a16="http://schemas.microsoft.com/office/drawing/2014/main" id="{8FED48EA-3931-48C1-CF44-0FAE18C93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2" t="46970" r="35429" b="22726"/>
          <a:stretch>
            <a:fillRect/>
          </a:stretch>
        </p:blipFill>
        <p:spPr bwMode="auto">
          <a:xfrm>
            <a:off x="2667001" y="2667000"/>
            <a:ext cx="4667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4" name="Picture 37" descr="bike_helmet.jpg">
            <a:extLst>
              <a:ext uri="{FF2B5EF4-FFF2-40B4-BE49-F238E27FC236}">
                <a16:creationId xmlns:a16="http://schemas.microsoft.com/office/drawing/2014/main" id="{BE12AF7B-AFAE-C0A8-B61B-4B5281E260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5" t="2000" r="8366" b="60800"/>
          <a:stretch>
            <a:fillRect/>
          </a:stretch>
        </p:blipFill>
        <p:spPr bwMode="auto">
          <a:xfrm>
            <a:off x="3429001" y="3352800"/>
            <a:ext cx="5683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88274AD-BAD5-3323-91EC-24EB13F5C41B}"/>
              </a:ext>
            </a:extLst>
          </p:cNvPr>
          <p:cNvSpPr/>
          <p:nvPr/>
        </p:nvSpPr>
        <p:spPr>
          <a:xfrm rot="2461534">
            <a:off x="2533650" y="1690688"/>
            <a:ext cx="1219200" cy="1905000"/>
          </a:xfrm>
          <a:prstGeom prst="ellipse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BD687-F8C4-38AD-979C-39D2B908B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6191-060E-3D29-F591-C4C945C0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9D72D-7B41-56C4-BED6-21709C59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8E22E106-3A03-4EC3-9A0F-C7B02C91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Discrete Random Variables</a:t>
            </a:r>
          </a:p>
        </p:txBody>
      </p:sp>
      <p:sp>
        <p:nvSpPr>
          <p:cNvPr id="37891" name="Content Placeholder 3">
            <a:extLst>
              <a:ext uri="{FF2B5EF4-FFF2-40B4-BE49-F238E27FC236}">
                <a16:creationId xmlns:a16="http://schemas.microsoft.com/office/drawing/2014/main" id="{A5030CD5-CC0B-D48B-4C2D-F1BB52032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Random variables (RVs) which may take on only a </a:t>
            </a:r>
            <a:r>
              <a:rPr lang="en-US" altLang="en-US" b="1">
                <a:ea typeface="ＭＳ Ｐゴシック" panose="020B0600070205080204" pitchFamily="34" charset="-128"/>
              </a:rPr>
              <a:t>countable </a:t>
            </a:r>
            <a:r>
              <a:rPr lang="en-US" altLang="en-US">
                <a:ea typeface="ＭＳ Ｐゴシック" panose="020B0600070205080204" pitchFamily="34" charset="-128"/>
              </a:rPr>
              <a:t>number of </a:t>
            </a:r>
            <a:r>
              <a:rPr lang="en-US" altLang="en-US" b="1">
                <a:ea typeface="ＭＳ Ｐゴシック" panose="020B0600070205080204" pitchFamily="34" charset="-128"/>
              </a:rPr>
              <a:t>distinct </a:t>
            </a:r>
            <a:r>
              <a:rPr lang="en-US" altLang="en-US">
                <a:ea typeface="ＭＳ Ｐゴシック" panose="020B0600070205080204" pitchFamily="34" charset="-128"/>
              </a:rPr>
              <a:t>values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E.g. the total number of tails X you get if you flip 100 coins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X is a RV with arity </a:t>
            </a:r>
            <a:r>
              <a:rPr lang="en-US" altLang="en-US" i="1">
                <a:ea typeface="ＭＳ Ｐゴシック" panose="020B0600070205080204" pitchFamily="34" charset="-128"/>
              </a:rPr>
              <a:t>k </a:t>
            </a:r>
            <a:r>
              <a:rPr lang="en-US" altLang="en-US">
                <a:ea typeface="ＭＳ Ｐゴシック" panose="020B0600070205080204" pitchFamily="34" charset="-128"/>
              </a:rPr>
              <a:t>if it can take on exactly one value out of {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a typeface="ＭＳ Ｐゴシック" panose="020B0600070205080204" pitchFamily="34" charset="-128"/>
              </a:rPr>
              <a:t>, …,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k</a:t>
            </a:r>
            <a:r>
              <a:rPr lang="en-US" altLang="en-US">
                <a:ea typeface="ＭＳ Ｐゴシック" panose="020B0600070205080204" pitchFamily="34" charset="-128"/>
              </a:rPr>
              <a:t>}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E.g. the possible values that X can take on are 0, 1, 2, …,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A1DA5-954A-8D81-7A2B-F36C134D6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0A94A-ADC7-5841-5F0D-5B139F98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4D54E-5992-79D9-5558-E8CA6109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8E2E762-237B-1258-0645-B79920CB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Probability of Discrete RV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DCC3CF27-EF5B-974F-A8C0-A2377908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Probability mass function (pmf): 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Easy facts about pmf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Σ</a:t>
            </a:r>
            <a:r>
              <a:rPr lang="en-US" altLang="en-US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 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) = 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∩X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>
                <a:ea typeface="ＭＳ Ｐゴシック" panose="020B0600070205080204" pitchFamily="34" charset="-128"/>
              </a:rPr>
              <a:t>) = 0 if i ≠ j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 </a:t>
            </a:r>
            <a:r>
              <a:rPr lang="en-US" altLang="en-US">
                <a:ea typeface="ＭＳ Ｐゴシック" panose="020B0600070205080204" pitchFamily="34" charset="-128"/>
              </a:rPr>
              <a:t>U 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>
                <a:ea typeface="ＭＳ Ｐゴシック" panose="020B0600070205080204" pitchFamily="34" charset="-128"/>
              </a:rPr>
              <a:t>) = 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) + 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>
                <a:ea typeface="ＭＳ Ｐゴシック" panose="020B0600070205080204" pitchFamily="34" charset="-128"/>
              </a:rPr>
              <a:t>) if i ≠ j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P(X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1 </a:t>
            </a:r>
            <a:r>
              <a:rPr lang="en-US" altLang="en-US">
                <a:ea typeface="ＭＳ Ｐゴシック" panose="020B0600070205080204" pitchFamily="34" charset="-128"/>
              </a:rPr>
              <a:t>U 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2 </a:t>
            </a:r>
            <a:r>
              <a:rPr lang="en-US" altLang="en-US">
                <a:ea typeface="ＭＳ Ｐゴシック" panose="020B0600070205080204" pitchFamily="34" charset="-128"/>
              </a:rPr>
              <a:t>U … U X =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k</a:t>
            </a:r>
            <a:r>
              <a:rPr lang="en-US" altLang="en-US">
                <a:ea typeface="ＭＳ Ｐゴシック" panose="020B0600070205080204" pitchFamily="34" charset="-128"/>
              </a:rPr>
              <a:t>) = 1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50F8FB-86FA-C0B4-3ECB-2920C5286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5AECD-17EA-6BBB-73E0-4401E316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6CC3A-81C5-7330-19E8-AEB9A3CB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>
            <a:extLst>
              <a:ext uri="{FF2B5EF4-FFF2-40B4-BE49-F238E27FC236}">
                <a16:creationId xmlns:a16="http://schemas.microsoft.com/office/drawing/2014/main" id="{62A082B7-D88F-0C45-46DC-DCA51356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Common Distributions</a:t>
            </a:r>
          </a:p>
        </p:txBody>
      </p:sp>
      <p:sp>
        <p:nvSpPr>
          <p:cNvPr id="3076" name="Content Placeholder 2">
            <a:extLst>
              <a:ext uri="{FF2B5EF4-FFF2-40B4-BE49-F238E27FC236}">
                <a16:creationId xmlns:a16="http://schemas.microsoft.com/office/drawing/2014/main" id="{96430ECB-4D76-4735-86E0-8B9BB73B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Uniform X	</a:t>
            </a:r>
            <a:r>
              <a:rPr lang="en-US" altLang="en-US" i="1">
                <a:ea typeface="ＭＳ Ｐゴシック" panose="020B0600070205080204" pitchFamily="34" charset="-128"/>
              </a:rPr>
              <a:t>U</a:t>
            </a:r>
            <a:r>
              <a:rPr lang="en-US" altLang="en-US">
                <a:ea typeface="ＭＳ Ｐゴシック" panose="020B0600070205080204" pitchFamily="34" charset="-128"/>
              </a:rPr>
              <a:t>[1, …, 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a typeface="ＭＳ Ｐゴシック" panose="020B0600070205080204" pitchFamily="34" charset="-128"/>
              </a:rPr>
              <a:t>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X takes values 1, 2, … 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P(X = </a:t>
            </a:r>
            <a:r>
              <a:rPr lang="en-US" altLang="en-US" i="1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) = 1/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E.g. picking balls of different colors from a box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Binomial X	</a:t>
            </a:r>
            <a:r>
              <a:rPr lang="en-US" altLang="en-US" i="1">
                <a:ea typeface="ＭＳ Ｐゴシック" panose="020B0600070205080204" pitchFamily="34" charset="-128"/>
              </a:rPr>
              <a:t>Bin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X takes values 0, 1, …, 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E.g. coin flips</a:t>
            </a:r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FE387B10-2A7F-61F2-86EE-6EF112DEC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7014" y="4722813"/>
          <a:ext cx="26431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100" imgH="444500" progId="Equation.3">
                  <p:embed/>
                </p:oleObj>
              </mc:Choice>
              <mc:Fallback>
                <p:oleObj name="Equation" r:id="rId2" imgW="1562100" imgH="444500" progId="Equation.3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FE387B10-2A7F-61F2-86EE-6EF112DEC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4" y="4722813"/>
                        <a:ext cx="26431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A124069-55B7-6A5A-03F7-8C39E5B42B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FF07C-9376-687C-E89A-0F8E9A6A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DFF31-9387-AC18-3477-2C1E9360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ADD6026-A47E-12C9-15C3-0D69F88A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Continuous Random Variables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0CB1E3F-A82C-1BF4-C4ED-7D81ADF9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Probability density function (pdf) instead of probability mass function (pmf)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 pdf is any function </a:t>
            </a:r>
            <a:r>
              <a:rPr lang="en-US" altLang="en-US" i="1">
                <a:ea typeface="ＭＳ Ｐゴシック" panose="020B0600070205080204" pitchFamily="34" charset="-128"/>
              </a:rPr>
              <a:t>f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) that describes the probability density in terms of the input variable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AE850-467A-AA9C-5289-283D8879D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66557-3375-3F5D-3DB2-D09ED536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5CF2B-8F93-E59B-E351-2763FB47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itle 1">
            <a:extLst>
              <a:ext uri="{FF2B5EF4-FFF2-40B4-BE49-F238E27FC236}">
                <a16:creationId xmlns:a16="http://schemas.microsoft.com/office/drawing/2014/main" id="{E1789FDF-ABFE-06A3-8601-BE78182B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Probability of Continuous RV</a:t>
            </a:r>
          </a:p>
        </p:txBody>
      </p:sp>
      <p:sp>
        <p:nvSpPr>
          <p:cNvPr id="4101" name="Content Placeholder 2">
            <a:extLst>
              <a:ext uri="{FF2B5EF4-FFF2-40B4-BE49-F238E27FC236}">
                <a16:creationId xmlns:a16="http://schemas.microsoft.com/office/drawing/2014/main" id="{A5A2F4E1-0FB6-B191-2CCE-8A972F49C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Properties of pdf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Actual probability can be obtained by taking the integral of pdf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E.g. the probability of X being between 0 and 1 is 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098" name="Object 3">
            <a:extLst>
              <a:ext uri="{FF2B5EF4-FFF2-40B4-BE49-F238E27FC236}">
                <a16:creationId xmlns:a16="http://schemas.microsoft.com/office/drawing/2014/main" id="{91907E55-BAA5-78A9-1ED5-BEACF45EE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1825" y="2209800"/>
          <a:ext cx="221615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2000" imgH="876300" progId="Equation.3">
                  <p:embed/>
                </p:oleObj>
              </mc:Choice>
              <mc:Fallback>
                <p:oleObj name="Equation" r:id="rId2" imgW="762000" imgH="876300" progId="Equation.3">
                  <p:embed/>
                  <p:pic>
                    <p:nvPicPr>
                      <p:cNvPr id="4098" name="Object 3">
                        <a:extLst>
                          <a:ext uri="{FF2B5EF4-FFF2-40B4-BE49-F238E27FC236}">
                            <a16:creationId xmlns:a16="http://schemas.microsoft.com/office/drawing/2014/main" id="{91907E55-BAA5-78A9-1ED5-BEACF45EE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209800"/>
                        <a:ext cx="221615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4340F9FE-CF9A-DF3B-2803-E829E451B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1150" y="5889626"/>
          <a:ext cx="25781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19100" progId="Equation.3">
                  <p:embed/>
                </p:oleObj>
              </mc:Choice>
              <mc:Fallback>
                <p:oleObj name="Equation" r:id="rId4" imgW="1524000" imgH="419100" progId="Equation.3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4340F9FE-CF9A-DF3B-2803-E829E451B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5889626"/>
                        <a:ext cx="25781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0A691F7-9582-5E35-3A1F-614C06E5AA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D2DAE-C136-A2AE-DE34-957358E6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4669D-B460-7EE2-B142-4FD2BA1A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>
            <a:extLst>
              <a:ext uri="{FF2B5EF4-FFF2-40B4-BE49-F238E27FC236}">
                <a16:creationId xmlns:a16="http://schemas.microsoft.com/office/drawing/2014/main" id="{3E48A438-DB89-5E79-CE81-8A287273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Cumulative Distribution Function</a:t>
            </a:r>
          </a:p>
        </p:txBody>
      </p:sp>
      <p:sp>
        <p:nvSpPr>
          <p:cNvPr id="5124" name="Content Placeholder 2">
            <a:extLst>
              <a:ext uri="{FF2B5EF4-FFF2-40B4-BE49-F238E27FC236}">
                <a16:creationId xmlns:a16="http://schemas.microsoft.com/office/drawing/2014/main" id="{358A4E2C-A9BF-EB47-6B6A-6AFC74195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>
                <a:ea typeface="ＭＳ Ｐゴシック" panose="020B0600070205080204" pitchFamily="34" charset="-128"/>
              </a:rPr>
              <a:t>F</a:t>
            </a:r>
            <a:r>
              <a:rPr lang="en-US" altLang="en-US" baseline="-25000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i="1">
                <a:ea typeface="ＭＳ Ｐゴシック" panose="020B0600070205080204" pitchFamily="34" charset="-128"/>
              </a:rPr>
              <a:t>v</a:t>
            </a:r>
            <a:r>
              <a:rPr lang="en-US" altLang="en-US">
                <a:ea typeface="ＭＳ Ｐゴシック" panose="020B0600070205080204" pitchFamily="34" charset="-128"/>
              </a:rPr>
              <a:t>) = P(X ≤ </a:t>
            </a:r>
            <a:r>
              <a:rPr lang="en-US" altLang="en-US" i="1">
                <a:ea typeface="ＭＳ Ｐゴシック" panose="020B0600070205080204" pitchFamily="34" charset="-128"/>
              </a:rPr>
              <a:t>v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Discrete RVs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i="1">
                <a:ea typeface="ＭＳ Ｐゴシック" panose="020B0600070205080204" pitchFamily="34" charset="-128"/>
              </a:rPr>
              <a:t>F</a:t>
            </a:r>
            <a:r>
              <a:rPr lang="en-US" altLang="en-US" baseline="-25000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i="1">
                <a:ea typeface="ＭＳ Ｐゴシック" panose="020B0600070205080204" pitchFamily="34" charset="-128"/>
              </a:rPr>
              <a:t>v</a:t>
            </a:r>
            <a:r>
              <a:rPr lang="en-US" altLang="en-US">
                <a:ea typeface="ＭＳ Ｐゴシック" panose="020B0600070205080204" pitchFamily="34" charset="-128"/>
              </a:rPr>
              <a:t>) = Σ</a:t>
            </a:r>
            <a:r>
              <a:rPr lang="en-US" altLang="en-US" baseline="-25000">
                <a:ea typeface="ＭＳ Ｐゴシック" panose="020B0600070205080204" pitchFamily="34" charset="-128"/>
              </a:rPr>
              <a:t>vi</a:t>
            </a:r>
            <a:r>
              <a:rPr lang="en-US" altLang="en-US">
                <a:ea typeface="ＭＳ Ｐゴシック" panose="020B0600070205080204" pitchFamily="34" charset="-128"/>
              </a:rPr>
              <a:t> P(X = </a:t>
            </a:r>
            <a:r>
              <a:rPr lang="en-US" altLang="en-US" i="1">
                <a:ea typeface="ＭＳ Ｐゴシック" panose="020B0600070205080204" pitchFamily="34" charset="-128"/>
              </a:rPr>
              <a:t>v</a:t>
            </a:r>
            <a:r>
              <a:rPr lang="en-US" altLang="en-US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Continuous RVs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258F6066-918A-3693-81B8-83C5A0462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3748088"/>
          <a:ext cx="243840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825500" progId="Equation.3">
                  <p:embed/>
                </p:oleObj>
              </mc:Choice>
              <mc:Fallback>
                <p:oleObj name="Equation" r:id="rId2" imgW="1117600" imgH="825500" progId="Equation.3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258F6066-918A-3693-81B8-83C5A04628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748088"/>
                        <a:ext cx="2438400" cy="188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C17314C-124C-8314-BFD9-533887820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4734E-4D9C-ECF6-0B4D-CAF1B434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772E2-589B-F259-9F47-4BA206F9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>
            <a:extLst>
              <a:ext uri="{FF2B5EF4-FFF2-40B4-BE49-F238E27FC236}">
                <a16:creationId xmlns:a16="http://schemas.microsoft.com/office/drawing/2014/main" id="{A6BE92C2-E92F-0253-EE3F-D28B9EDC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Common Distributions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685CE6A5-3892-3798-12A6-4E1B09A59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Normal X	</a:t>
            </a:r>
            <a:r>
              <a:rPr lang="en-US" altLang="en-US" i="1"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i="1">
                <a:ea typeface="ＭＳ Ｐゴシック" panose="020B0600070205080204" pitchFamily="34" charset="-128"/>
              </a:rPr>
              <a:t>μ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σ</a:t>
            </a:r>
            <a:r>
              <a:rPr lang="en-US" altLang="en-US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E.g. the height of the entire population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62DA603A-0599-956C-EBE9-35989BC7C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1500" y="2438400"/>
          <a:ext cx="40449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200" imgH="444500" progId="Equation.3">
                  <p:embed/>
                </p:oleObj>
              </mc:Choice>
              <mc:Fallback>
                <p:oleObj name="Equation" r:id="rId2" imgW="1854200" imgH="444500" progId="Equation.3">
                  <p:embed/>
                  <p:pic>
                    <p:nvPicPr>
                      <p:cNvPr id="6146" name="Object 3">
                        <a:extLst>
                          <a:ext uri="{FF2B5EF4-FFF2-40B4-BE49-F238E27FC236}">
                            <a16:creationId xmlns:a16="http://schemas.microsoft.com/office/drawing/2014/main" id="{62DA603A-0599-956C-EBE9-35989BC7C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438400"/>
                        <a:ext cx="40449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4" descr="normal.pdf">
            <a:extLst>
              <a:ext uri="{FF2B5EF4-FFF2-40B4-BE49-F238E27FC236}">
                <a16:creationId xmlns:a16="http://schemas.microsoft.com/office/drawing/2014/main" id="{01A51EB0-6CC8-7185-1AF4-93B58C4E9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95800"/>
            <a:ext cx="26416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CD9AB6-FBAC-0564-B558-3B8B5AF40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AEA7-EE0C-EC67-0209-59AC87A8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8B25F-49DF-7B29-9250-DC19B5C5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>
            <a:extLst>
              <a:ext uri="{FF2B5EF4-FFF2-40B4-BE49-F238E27FC236}">
                <a16:creationId xmlns:a16="http://schemas.microsoft.com/office/drawing/2014/main" id="{4245966E-8261-5098-6117-097E62D6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Multivariate Normal</a:t>
            </a:r>
          </a:p>
        </p:txBody>
      </p:sp>
      <p:sp>
        <p:nvSpPr>
          <p:cNvPr id="7173" name="Content Placeholder 2">
            <a:extLst>
              <a:ext uri="{FF2B5EF4-FFF2-40B4-BE49-F238E27FC236}">
                <a16:creationId xmlns:a16="http://schemas.microsoft.com/office/drawing/2014/main" id="{53A4382F-BF65-ECEA-34ED-3A0C3A11B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Generalization to higher dimensions of the one-dimensional normal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7170" name="Object 3">
            <a:extLst>
              <a:ext uri="{FF2B5EF4-FFF2-40B4-BE49-F238E27FC236}">
                <a16:creationId xmlns:a16="http://schemas.microsoft.com/office/drawing/2014/main" id="{177A6A85-3BDA-C53F-3053-1DEACCFAE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971800"/>
          <a:ext cx="368458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9100" imgH="406400" progId="Equation.3">
                  <p:embed/>
                </p:oleObj>
              </mc:Choice>
              <mc:Fallback>
                <p:oleObj name="Equation" r:id="rId2" imgW="1689100" imgH="406400" progId="Equation.3">
                  <p:embed/>
                  <p:pic>
                    <p:nvPicPr>
                      <p:cNvPr id="7170" name="Object 3">
                        <a:extLst>
                          <a:ext uri="{FF2B5EF4-FFF2-40B4-BE49-F238E27FC236}">
                            <a16:creationId xmlns:a16="http://schemas.microsoft.com/office/drawing/2014/main" id="{177A6A85-3BDA-C53F-3053-1DEACCFAE0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971800"/>
                        <a:ext cx="368458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C9F664C7-2401-0246-C04D-8318308EC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0275" y="4191001"/>
          <a:ext cx="38227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393700" progId="Equation.3">
                  <p:embed/>
                </p:oleObj>
              </mc:Choice>
              <mc:Fallback>
                <p:oleObj name="Equation" r:id="rId4" imgW="1752600" imgH="39370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C9F664C7-2401-0246-C04D-8318308EC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4191001"/>
                        <a:ext cx="38227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Box 5">
            <a:extLst>
              <a:ext uri="{FF2B5EF4-FFF2-40B4-BE49-F238E27FC236}">
                <a16:creationId xmlns:a16="http://schemas.microsoft.com/office/drawing/2014/main" id="{CB67A6EB-638E-53DF-50FC-F2E7A6808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63" y="4262439"/>
            <a:ext cx="284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/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44C52C-95FA-C7EB-4CFB-B526BF8B801F}"/>
              </a:ext>
            </a:extLst>
          </p:cNvPr>
          <p:cNvCxnSpPr>
            <a:cxnSpLocks noChangeShapeType="1"/>
            <a:endCxn id="7177" idx="1"/>
          </p:cNvCxnSpPr>
          <p:nvPr/>
        </p:nvCxnSpPr>
        <p:spPr bwMode="auto">
          <a:xfrm flipV="1">
            <a:off x="5715000" y="2774950"/>
            <a:ext cx="2286000" cy="6540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738C20-995B-2A47-94FE-624A81988869}"/>
              </a:ext>
            </a:extLst>
          </p:cNvPr>
          <p:cNvCxnSpPr>
            <a:cxnSpLocks noChangeShapeType="1"/>
            <a:endCxn id="7177" idx="1"/>
          </p:cNvCxnSpPr>
          <p:nvPr/>
        </p:nvCxnSpPr>
        <p:spPr bwMode="auto">
          <a:xfrm rot="5400000" flipH="1" flipV="1">
            <a:off x="6797675" y="3140075"/>
            <a:ext cx="1568450" cy="838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7177" name="TextBox 10">
            <a:extLst>
              <a:ext uri="{FF2B5EF4-FFF2-40B4-BE49-F238E27FC236}">
                <a16:creationId xmlns:a16="http://schemas.microsoft.com/office/drawing/2014/main" id="{8E909440-4AA0-1E1B-0BE6-1BEDBF0C5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590800"/>
            <a:ext cx="204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Covariance matrix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E77FD3-EDE2-7AD9-D5D0-239F95A9100A}"/>
              </a:ext>
            </a:extLst>
          </p:cNvPr>
          <p:cNvCxnSpPr>
            <a:cxnSpLocks noChangeShapeType="1"/>
            <a:endCxn id="7180" idx="0"/>
          </p:cNvCxnSpPr>
          <p:nvPr/>
        </p:nvCxnSpPr>
        <p:spPr bwMode="auto">
          <a:xfrm rot="10800000" flipV="1">
            <a:off x="4114800" y="4876800"/>
            <a:ext cx="2438400" cy="1219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9D2B3B-A034-C394-2CE5-444B394583D8}"/>
              </a:ext>
            </a:extLst>
          </p:cNvPr>
          <p:cNvCxnSpPr>
            <a:cxnSpLocks noChangeShapeType="1"/>
            <a:endCxn id="7180" idx="0"/>
          </p:cNvCxnSpPr>
          <p:nvPr/>
        </p:nvCxnSpPr>
        <p:spPr bwMode="auto">
          <a:xfrm rot="10800000" flipV="1">
            <a:off x="4114800" y="4953000"/>
            <a:ext cx="4038600" cy="1143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7180" name="TextBox 19">
            <a:extLst>
              <a:ext uri="{FF2B5EF4-FFF2-40B4-BE49-F238E27FC236}">
                <a16:creationId xmlns:a16="http://schemas.microsoft.com/office/drawing/2014/main" id="{579FAC1E-7ECB-B80C-84BA-B0A102C2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6096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Mean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4CAEA0-2D26-9E2E-E2DF-706C30D41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340BC-590F-B7CB-1752-0E0F92B3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B25DC-C39D-7B19-25AB-E4219A39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7366727-0854-4E1A-7BB3-5711FB5FC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979DFFA3-601C-E258-5C23-66EEF767A0DD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2E17F-A62F-E5DA-EAE6-0220647C7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8CC09-CA34-40E2-F0B9-7B2C1E91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17E02-58AA-B832-2B09-9AE516F4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>
            <a:extLst>
              <a:ext uri="{FF2B5EF4-FFF2-40B4-BE49-F238E27FC236}">
                <a16:creationId xmlns:a16="http://schemas.microsoft.com/office/drawing/2014/main" id="{2CB97F8F-AFC9-8F4F-C1E0-D627BDB0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908" y="207633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Joint Probability Distribution</a:t>
            </a:r>
          </a:p>
        </p:txBody>
      </p:sp>
      <p:sp>
        <p:nvSpPr>
          <p:cNvPr id="8197" name="Content Placeholder 2">
            <a:extLst>
              <a:ext uri="{FF2B5EF4-FFF2-40B4-BE49-F238E27FC236}">
                <a16:creationId xmlns:a16="http://schemas.microsoft.com/office/drawing/2014/main" id="{BC391F4D-1F60-B0D3-C396-6DD582912990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Random variables encodes attributes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Not all possible combination of attributes are equally likely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Joint probability distributions quantify this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P( X= x, Y= y) = P(x, y)  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Generalizes to N-RVs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 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 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9B55E1DA-E6B6-701C-A1C9-D9953CF955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364" y="4205289"/>
          <a:ext cx="36290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79360" progId="Equation.3">
                  <p:embed/>
                </p:oleObj>
              </mc:Choice>
              <mc:Fallback>
                <p:oleObj name="Equation" r:id="rId2" imgW="1663560" imgH="279360" progId="Equation.3">
                  <p:embed/>
                  <p:pic>
                    <p:nvPicPr>
                      <p:cNvPr id="8194" name="Object 3">
                        <a:extLst>
                          <a:ext uri="{FF2B5EF4-FFF2-40B4-BE49-F238E27FC236}">
                            <a16:creationId xmlns:a16="http://schemas.microsoft.com/office/drawing/2014/main" id="{9B55E1DA-E6B6-701C-A1C9-D9953CF95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4" y="4205289"/>
                        <a:ext cx="362902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34057369-5EB4-230D-BABE-07F2DC795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4350" y="4833939"/>
          <a:ext cx="34988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93480" progId="Equation.3">
                  <p:embed/>
                </p:oleObj>
              </mc:Choice>
              <mc:Fallback>
                <p:oleObj name="Equation" r:id="rId4" imgW="1295280" imgH="393480" progId="Equation.3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34057369-5EB4-230D-BABE-07F2DC795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4833939"/>
                        <a:ext cx="349885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0937307-3171-5F74-F558-225D070BD1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BACCB-EFE3-7E10-FACC-384A5500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15E8-8F9E-3664-5DFC-982CEDC0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B14F7B60-31EE-D7A8-E2B2-77633694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Chain Rule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DCECEF27-9FFA-4DB9-907A-55B75A6C93F8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Always true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P(x, y, z) = p(x) p(y|x) p(z|x, y)</a:t>
            </a:r>
          </a:p>
          <a:p>
            <a:pPr lvl="3" eaLnBrk="1" hangingPunct="1">
              <a:spcBef>
                <a:spcPct val="20000"/>
              </a:spcBef>
            </a:pPr>
            <a:r>
              <a:rPr lang="en-US" altLang="en-US" sz="2800">
                <a:latin typeface="Calibri" panose="020F0502020204030204" pitchFamily="34" charset="0"/>
              </a:rPr>
              <a:t>       = p(z) p(y|z) p(x|y, z)</a:t>
            </a:r>
          </a:p>
          <a:p>
            <a:pPr lvl="3" eaLnBrk="1" hangingPunct="1">
              <a:spcBef>
                <a:spcPct val="20000"/>
              </a:spcBef>
            </a:pPr>
            <a:r>
              <a:rPr lang="en-US" altLang="en-US" sz="2800">
                <a:latin typeface="Calibri" panose="020F0502020204030204" pitchFamily="34" charset="0"/>
              </a:rPr>
              <a:t>		  =…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CA820-124E-B5BD-2CB5-99DE0C74B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FDC73-6384-E953-E40D-7361EDBF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FD8A1-8BBF-EB9A-0BA4-ECD964BB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itle 1">
            <a:extLst>
              <a:ext uri="{FF2B5EF4-FFF2-40B4-BE49-F238E27FC236}">
                <a16:creationId xmlns:a16="http://schemas.microsoft.com/office/drawing/2014/main" id="{30C47DDD-21D0-3EAD-C7D4-42A771F4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Conditional Probability</a:t>
            </a:r>
          </a:p>
        </p:txBody>
      </p:sp>
      <p:sp>
        <p:nvSpPr>
          <p:cNvPr id="9221" name="Content Placeholder 2">
            <a:extLst>
              <a:ext uri="{FF2B5EF4-FFF2-40B4-BE49-F238E27FC236}">
                <a16:creationId xmlns:a16="http://schemas.microsoft.com/office/drawing/2014/main" id="{A1B3E015-CE5D-89BC-3E77-897FCAD85AB8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6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 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D6251459-0D89-EF8A-EDC1-B75066E4FB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1" y="1600201"/>
          <a:ext cx="5851525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19040" progId="Equation.DSMT4">
                  <p:embed/>
                </p:oleObj>
              </mc:Choice>
              <mc:Fallback>
                <p:oleObj name="Equation" r:id="rId2" imgW="1942920" imgH="419040" progId="Equation.DSMT4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D6251459-0D89-EF8A-EDC1-B75066E4F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1600201"/>
                        <a:ext cx="5851525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803C752F-46D6-150C-993A-D771A57962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3151" y="3810000"/>
          <a:ext cx="2994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82400" progId="Equation.3">
                  <p:embed/>
                </p:oleObj>
              </mc:Choice>
              <mc:Fallback>
                <p:oleObj name="Equation" r:id="rId4" imgW="1257120" imgH="482400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803C752F-46D6-150C-993A-D771A57962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1" y="3810000"/>
                        <a:ext cx="2994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2">
            <a:extLst>
              <a:ext uri="{FF2B5EF4-FFF2-40B4-BE49-F238E27FC236}">
                <a16:creationId xmlns:a16="http://schemas.microsoft.com/office/drawing/2014/main" id="{D4640203-245A-16B6-77B1-D3F4762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1" y="3200400"/>
            <a:ext cx="26384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E085D3-15E3-3611-72D0-201886FB7EC5}"/>
              </a:ext>
            </a:extLst>
          </p:cNvPr>
          <p:cNvSpPr txBox="1"/>
          <p:nvPr/>
        </p:nvSpPr>
        <p:spPr>
          <a:xfrm>
            <a:off x="1981200" y="3352800"/>
            <a:ext cx="3500438" cy="3698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Calibri" charset="0"/>
                <a:ea typeface="ＭＳ Ｐゴシック" charset="-128"/>
              </a:rPr>
              <a:t>But we will always write it this way: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69A14-7AE5-A0EE-84F3-46F451569D25}"/>
              </a:ext>
            </a:extLst>
          </p:cNvPr>
          <p:cNvSpPr/>
          <p:nvPr/>
        </p:nvSpPr>
        <p:spPr>
          <a:xfrm>
            <a:off x="6096000" y="1676400"/>
            <a:ext cx="914400" cy="457200"/>
          </a:xfrm>
          <a:prstGeom prst="rect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038BC-02A4-4999-B6FD-9E31AFF55A49}"/>
              </a:ext>
            </a:extLst>
          </p:cNvPr>
          <p:cNvSpPr/>
          <p:nvPr/>
        </p:nvSpPr>
        <p:spPr>
          <a:xfrm>
            <a:off x="7391400" y="1676400"/>
            <a:ext cx="914400" cy="457200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997F69-A24A-51BB-C294-61CF58741C60}"/>
              </a:ext>
            </a:extLst>
          </p:cNvPr>
          <p:cNvSpPr/>
          <p:nvPr/>
        </p:nvSpPr>
        <p:spPr>
          <a:xfrm>
            <a:off x="6781800" y="2286000"/>
            <a:ext cx="914400" cy="457200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227" name="TextBox 11">
            <a:extLst>
              <a:ext uri="{FF2B5EF4-FFF2-40B4-BE49-F238E27FC236}">
                <a16:creationId xmlns:a16="http://schemas.microsoft.com/office/drawing/2014/main" id="{46BADEB8-C19C-6168-1A16-237DA8668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1" y="1066800"/>
            <a:ext cx="803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events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55A6E1C-BBEB-E303-F12D-54B1A6079A03}"/>
              </a:ext>
            </a:extLst>
          </p:cNvPr>
          <p:cNvCxnSpPr>
            <a:stCxn id="9227" idx="1"/>
          </p:cNvCxnSpPr>
          <p:nvPr/>
        </p:nvCxnSpPr>
        <p:spPr>
          <a:xfrm rot="10800000" flipV="1">
            <a:off x="6553200" y="1250950"/>
            <a:ext cx="2819400" cy="425450"/>
          </a:xfrm>
          <a:prstGeom prst="curvedConnector3">
            <a:avLst>
              <a:gd name="adj1" fmla="val 1008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>
            <a:extLst>
              <a:ext uri="{FF2B5EF4-FFF2-40B4-BE49-F238E27FC236}">
                <a16:creationId xmlns:a16="http://schemas.microsoft.com/office/drawing/2014/main" id="{5F966A42-FBF6-1A4E-5B83-5E6AB7F5C2E6}"/>
              </a:ext>
            </a:extLst>
          </p:cNvPr>
          <p:cNvCxnSpPr>
            <a:stCxn id="9227" idx="1"/>
            <a:endCxn id="9" idx="0"/>
          </p:cNvCxnSpPr>
          <p:nvPr/>
        </p:nvCxnSpPr>
        <p:spPr>
          <a:xfrm rot="10800000" flipV="1">
            <a:off x="7848600" y="1250950"/>
            <a:ext cx="1524000" cy="42545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EA83ADC4-E278-F3F9-1232-DB721E49D2D6}"/>
              </a:ext>
            </a:extLst>
          </p:cNvPr>
          <p:cNvCxnSpPr>
            <a:stCxn id="9227" idx="1"/>
            <a:endCxn id="10" idx="3"/>
          </p:cNvCxnSpPr>
          <p:nvPr/>
        </p:nvCxnSpPr>
        <p:spPr>
          <a:xfrm rot="10800000" flipV="1">
            <a:off x="7696200" y="1250950"/>
            <a:ext cx="1676400" cy="126365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76817D4-52DF-5471-3C31-F9D86E9E6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3C019-D5A9-CC8A-29DA-940BEA40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73703-A8C6-A4CB-367D-429181D3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>
            <a:extLst>
              <a:ext uri="{FF2B5EF4-FFF2-40B4-BE49-F238E27FC236}">
                <a16:creationId xmlns:a16="http://schemas.microsoft.com/office/drawing/2014/main" id="{C4B5E73A-DA6E-D31A-C8FB-DF6F7295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Marginalization</a:t>
            </a: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69928A0B-814E-83AD-B957-B5F576360A3E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6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 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sp>
        <p:nvSpPr>
          <p:cNvPr id="10245" name="Content Placeholder 2">
            <a:extLst>
              <a:ext uri="{FF2B5EF4-FFF2-40B4-BE49-F238E27FC236}">
                <a16:creationId xmlns:a16="http://schemas.microsoft.com/office/drawing/2014/main" id="{E870D975-DE0F-D431-474D-F00F6B2D522C}"/>
              </a:ext>
            </a:extLst>
          </p:cNvPr>
          <p:cNvSpPr txBox="1">
            <a:spLocks/>
          </p:cNvSpPr>
          <p:nvPr/>
        </p:nvSpPr>
        <p:spPr bwMode="auto">
          <a:xfrm>
            <a:off x="19812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We know p(X, Y), what is P(X=x)?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We can use the low of total probability, why?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379912A5-A7C6-8F71-EB6A-BAA8AA5DB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971800"/>
          <a:ext cx="3657600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749160" progId="Equation.3">
                  <p:embed/>
                </p:oleObj>
              </mc:Choice>
              <mc:Fallback>
                <p:oleObj name="Equation" r:id="rId2" imgW="1574640" imgH="749160" progId="Equation.3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379912A5-A7C6-8F71-EB6A-BAA8AA5DB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971800"/>
                        <a:ext cx="3657600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6" name="Group 33">
            <a:extLst>
              <a:ext uri="{FF2B5EF4-FFF2-40B4-BE49-F238E27FC236}">
                <a16:creationId xmlns:a16="http://schemas.microsoft.com/office/drawing/2014/main" id="{072A2560-0BD6-6E0E-050C-BF5F4430500F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895600"/>
            <a:ext cx="3810000" cy="2286000"/>
            <a:chOff x="1963554" y="1511166"/>
            <a:chExt cx="4208646" cy="207905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80E58A3-E8D5-8A35-F7BC-C8F521AE12DA}"/>
                </a:ext>
              </a:extLst>
            </p:cNvPr>
            <p:cNvSpPr/>
            <p:nvPr/>
          </p:nvSpPr>
          <p:spPr>
            <a:xfrm>
              <a:off x="1981090" y="1524161"/>
              <a:ext cx="4191110" cy="2057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-128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AF2C715-FFBD-D50A-8EE2-AC8FC5163645}"/>
                </a:ext>
              </a:extLst>
            </p:cNvPr>
            <p:cNvSpPr/>
            <p:nvPr/>
          </p:nvSpPr>
          <p:spPr>
            <a:xfrm>
              <a:off x="4849984" y="1511166"/>
              <a:ext cx="1309942" cy="1107387"/>
            </a:xfrm>
            <a:custGeom>
              <a:avLst/>
              <a:gdLst>
                <a:gd name="connsiteX0" fmla="*/ 0 w 1309035"/>
                <a:gd name="connsiteY0" fmla="*/ 0 h 1106906"/>
                <a:gd name="connsiteX1" fmla="*/ 365760 w 1309035"/>
                <a:gd name="connsiteY1" fmla="*/ 885525 h 1106906"/>
                <a:gd name="connsiteX2" fmla="*/ 1309035 w 1309035"/>
                <a:gd name="connsiteY2" fmla="*/ 1106906 h 1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9035" h="1106906">
                  <a:moveTo>
                    <a:pt x="0" y="0"/>
                  </a:moveTo>
                  <a:cubicBezTo>
                    <a:pt x="73794" y="350520"/>
                    <a:pt x="147588" y="701041"/>
                    <a:pt x="365760" y="885525"/>
                  </a:cubicBezTo>
                  <a:cubicBezTo>
                    <a:pt x="583932" y="1070009"/>
                    <a:pt x="946483" y="1088457"/>
                    <a:pt x="1309035" y="1106906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9C2DCBE-D5EA-71DC-698A-6857EF070FEC}"/>
                </a:ext>
              </a:extLst>
            </p:cNvPr>
            <p:cNvSpPr/>
            <p:nvPr/>
          </p:nvSpPr>
          <p:spPr>
            <a:xfrm>
              <a:off x="4404569" y="2194079"/>
              <a:ext cx="659355" cy="1396144"/>
            </a:xfrm>
            <a:custGeom>
              <a:avLst/>
              <a:gdLst>
                <a:gd name="connsiteX0" fmla="*/ 657726 w 657726"/>
                <a:gd name="connsiteY0" fmla="*/ 0 h 1395663"/>
                <a:gd name="connsiteX1" fmla="*/ 109086 w 657726"/>
                <a:gd name="connsiteY1" fmla="*/ 644893 h 1395663"/>
                <a:gd name="connsiteX2" fmla="*/ 3209 w 657726"/>
                <a:gd name="connsiteY2" fmla="*/ 1395663 h 139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7726" h="1395663">
                  <a:moveTo>
                    <a:pt x="657726" y="0"/>
                  </a:moveTo>
                  <a:cubicBezTo>
                    <a:pt x="437949" y="206141"/>
                    <a:pt x="218172" y="412283"/>
                    <a:pt x="109086" y="644893"/>
                  </a:cubicBezTo>
                  <a:cubicBezTo>
                    <a:pt x="0" y="877503"/>
                    <a:pt x="20855" y="1270535"/>
                    <a:pt x="3209" y="1395663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D83E153-00F2-6F3A-41B0-24A748BF69A9}"/>
                </a:ext>
              </a:extLst>
            </p:cNvPr>
            <p:cNvSpPr/>
            <p:nvPr/>
          </p:nvSpPr>
          <p:spPr>
            <a:xfrm>
              <a:off x="2791254" y="1511166"/>
              <a:ext cx="1685213" cy="1404808"/>
            </a:xfrm>
            <a:custGeom>
              <a:avLst/>
              <a:gdLst>
                <a:gd name="connsiteX0" fmla="*/ 1684421 w 1684421"/>
                <a:gd name="connsiteY0" fmla="*/ 1405289 h 1405289"/>
                <a:gd name="connsiteX1" fmla="*/ 462013 w 1684421"/>
                <a:gd name="connsiteY1" fmla="*/ 1058779 h 1405289"/>
                <a:gd name="connsiteX2" fmla="*/ 0 w 1684421"/>
                <a:gd name="connsiteY2" fmla="*/ 0 h 140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4421" h="1405289">
                  <a:moveTo>
                    <a:pt x="1684421" y="1405289"/>
                  </a:moveTo>
                  <a:cubicBezTo>
                    <a:pt x="1213585" y="1349141"/>
                    <a:pt x="742750" y="1292994"/>
                    <a:pt x="462013" y="1058779"/>
                  </a:cubicBezTo>
                  <a:cubicBezTo>
                    <a:pt x="181276" y="824564"/>
                    <a:pt x="77002" y="173255"/>
                    <a:pt x="0" y="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EA50E45-ABCD-0029-5EFC-C3453ECFCBAB}"/>
                </a:ext>
              </a:extLst>
            </p:cNvPr>
            <p:cNvSpPr/>
            <p:nvPr/>
          </p:nvSpPr>
          <p:spPr>
            <a:xfrm>
              <a:off x="1963554" y="2406316"/>
              <a:ext cx="1136334" cy="674250"/>
            </a:xfrm>
            <a:custGeom>
              <a:avLst/>
              <a:gdLst>
                <a:gd name="connsiteX0" fmla="*/ 1135781 w 1135781"/>
                <a:gd name="connsiteY0" fmla="*/ 0 h 673768"/>
                <a:gd name="connsiteX1" fmla="*/ 702644 w 1135781"/>
                <a:gd name="connsiteY1" fmla="*/ 529389 h 673768"/>
                <a:gd name="connsiteX2" fmla="*/ 0 w 1135781"/>
                <a:gd name="connsiteY2" fmla="*/ 673768 h 673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5781" h="673768">
                  <a:moveTo>
                    <a:pt x="1135781" y="0"/>
                  </a:moveTo>
                  <a:cubicBezTo>
                    <a:pt x="1013861" y="208547"/>
                    <a:pt x="891941" y="417094"/>
                    <a:pt x="702644" y="529389"/>
                  </a:cubicBezTo>
                  <a:cubicBezTo>
                    <a:pt x="513347" y="641684"/>
                    <a:pt x="256673" y="657726"/>
                    <a:pt x="0" y="673768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CDE68A-A0B4-3931-6E5C-D49CB1BEE39E}"/>
                </a:ext>
              </a:extLst>
            </p:cNvPr>
            <p:cNvSpPr/>
            <p:nvPr/>
          </p:nvSpPr>
          <p:spPr>
            <a:xfrm>
              <a:off x="3277003" y="2209960"/>
              <a:ext cx="1448476" cy="1143481"/>
            </a:xfrm>
            <a:prstGeom prst="ellipse">
              <a:avLst/>
            </a:prstGeom>
            <a:solidFill>
              <a:schemeClr val="accent1"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FFFF"/>
                  </a:solidFill>
                  <a:ea typeface="ＭＳ Ｐゴシック" charset="-128"/>
                </a:rPr>
                <a:t>A</a:t>
              </a: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90D61EE-63F5-408E-67B9-9565E510B9BC}"/>
                </a:ext>
              </a:extLst>
            </p:cNvPr>
            <p:cNvSpPr/>
            <p:nvPr/>
          </p:nvSpPr>
          <p:spPr>
            <a:xfrm>
              <a:off x="3811851" y="1511166"/>
              <a:ext cx="505038" cy="1299411"/>
            </a:xfrm>
            <a:custGeom>
              <a:avLst/>
              <a:gdLst>
                <a:gd name="connsiteX0" fmla="*/ 0 w 503723"/>
                <a:gd name="connsiteY0" fmla="*/ 1299411 h 1299411"/>
                <a:gd name="connsiteX1" fmla="*/ 462013 w 503723"/>
                <a:gd name="connsiteY1" fmla="*/ 442762 h 1299411"/>
                <a:gd name="connsiteX2" fmla="*/ 250257 w 503723"/>
                <a:gd name="connsiteY2" fmla="*/ 0 h 129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3723" h="1299411">
                  <a:moveTo>
                    <a:pt x="0" y="1299411"/>
                  </a:moveTo>
                  <a:cubicBezTo>
                    <a:pt x="210152" y="979371"/>
                    <a:pt x="420304" y="659331"/>
                    <a:pt x="462013" y="442762"/>
                  </a:cubicBezTo>
                  <a:cubicBezTo>
                    <a:pt x="503723" y="226194"/>
                    <a:pt x="290362" y="72189"/>
                    <a:pt x="250257" y="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CD80313-9F7A-7F48-0671-23893A2E8E7F}"/>
                </a:ext>
              </a:extLst>
            </p:cNvPr>
            <p:cNvSpPr/>
            <p:nvPr/>
          </p:nvSpPr>
          <p:spPr>
            <a:xfrm>
              <a:off x="2570300" y="2973725"/>
              <a:ext cx="673383" cy="606392"/>
            </a:xfrm>
            <a:custGeom>
              <a:avLst/>
              <a:gdLst>
                <a:gd name="connsiteX0" fmla="*/ 0 w 673769"/>
                <a:gd name="connsiteY0" fmla="*/ 0 h 606392"/>
                <a:gd name="connsiteX1" fmla="*/ 548640 w 673769"/>
                <a:gd name="connsiteY1" fmla="*/ 269508 h 606392"/>
                <a:gd name="connsiteX2" fmla="*/ 673769 w 673769"/>
                <a:gd name="connsiteY2" fmla="*/ 606392 h 60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769" h="606392">
                  <a:moveTo>
                    <a:pt x="0" y="0"/>
                  </a:moveTo>
                  <a:cubicBezTo>
                    <a:pt x="218172" y="84221"/>
                    <a:pt x="436345" y="168443"/>
                    <a:pt x="548640" y="269508"/>
                  </a:cubicBezTo>
                  <a:cubicBezTo>
                    <a:pt x="660935" y="370573"/>
                    <a:pt x="667352" y="488482"/>
                    <a:pt x="673769" y="606392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ea typeface="ＭＳ Ｐゴシック" charset="-128"/>
              </a:endParaRPr>
            </a:p>
          </p:txBody>
        </p:sp>
        <p:sp>
          <p:nvSpPr>
            <p:cNvPr id="10255" name="TextBox 26">
              <a:extLst>
                <a:ext uri="{FF2B5EF4-FFF2-40B4-BE49-F238E27FC236}">
                  <a16:creationId xmlns:a16="http://schemas.microsoft.com/office/drawing/2014/main" id="{6660BCBF-FC86-809C-9400-C0C1DA01F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05400" y="304799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1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56" name="TextBox 27">
              <a:extLst>
                <a:ext uri="{FF2B5EF4-FFF2-40B4-BE49-F238E27FC236}">
                  <a16:creationId xmlns:a16="http://schemas.microsoft.com/office/drawing/2014/main" id="{B2A5AA82-07F0-480E-279F-B302D3354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379720" y="168806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2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57" name="TextBox 28">
              <a:extLst>
                <a:ext uri="{FF2B5EF4-FFF2-40B4-BE49-F238E27FC236}">
                  <a16:creationId xmlns:a16="http://schemas.microsoft.com/office/drawing/2014/main" id="{73F76177-70A8-575C-5D19-A77A19868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12920" y="175259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3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58" name="TextBox 29">
              <a:extLst>
                <a:ext uri="{FF2B5EF4-FFF2-40B4-BE49-F238E27FC236}">
                  <a16:creationId xmlns:a16="http://schemas.microsoft.com/office/drawing/2014/main" id="{2F798468-57A0-F04B-2E73-5FE232F86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09800" y="2057400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4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59" name="TextBox 30">
              <a:extLst>
                <a:ext uri="{FF2B5EF4-FFF2-40B4-BE49-F238E27FC236}">
                  <a16:creationId xmlns:a16="http://schemas.microsoft.com/office/drawing/2014/main" id="{1A1736A7-D357-67B6-6532-FB5A73106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76600" y="175259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5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60" name="TextBox 31">
              <a:extLst>
                <a:ext uri="{FF2B5EF4-FFF2-40B4-BE49-F238E27FC236}">
                  <a16:creationId xmlns:a16="http://schemas.microsoft.com/office/drawing/2014/main" id="{E4E7C627-2C87-72BD-B875-72EA1B6F0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76600" y="320039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6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0261" name="TextBox 32">
              <a:extLst>
                <a:ext uri="{FF2B5EF4-FFF2-40B4-BE49-F238E27FC236}">
                  <a16:creationId xmlns:a16="http://schemas.microsoft.com/office/drawing/2014/main" id="{D2DDB117-5051-81A7-DB8D-0F610615D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133601" y="3200399"/>
              <a:ext cx="563882" cy="33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Calibri" panose="020F0502020204030204" pitchFamily="34" charset="0"/>
                </a:rPr>
                <a:t>B</a:t>
              </a:r>
              <a:r>
                <a:rPr lang="en-US" altLang="en-US" baseline="-25000">
                  <a:latin typeface="Calibri" panose="020F0502020204030204" pitchFamily="34" charset="0"/>
                </a:rPr>
                <a:t>7</a:t>
              </a:r>
              <a:endParaRPr lang="en-US" altLang="en-US">
                <a:latin typeface="Calibri" panose="020F050202020403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1BDC79-A077-C103-4DC7-258EDDB2D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AEE2D-750A-EB2D-2F81-4E3BF72D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C508D-503A-E253-7F7E-382FE6A7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>
            <a:extLst>
              <a:ext uri="{FF2B5EF4-FFF2-40B4-BE49-F238E27FC236}">
                <a16:creationId xmlns:a16="http://schemas.microsoft.com/office/drawing/2014/main" id="{88706D6F-A546-FF3E-4FD9-B832AC2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Marginalization Cont.</a:t>
            </a:r>
          </a:p>
        </p:txBody>
      </p:sp>
      <p:sp>
        <p:nvSpPr>
          <p:cNvPr id="11268" name="Content Placeholder 2">
            <a:extLst>
              <a:ext uri="{FF2B5EF4-FFF2-40B4-BE49-F238E27FC236}">
                <a16:creationId xmlns:a16="http://schemas.microsoft.com/office/drawing/2014/main" id="{AD93FAF9-CFA2-6533-9493-D9C6BFAB3D5D}"/>
              </a:ext>
            </a:extLst>
          </p:cNvPr>
          <p:cNvSpPr txBox="1">
            <a:spLocks/>
          </p:cNvSpPr>
          <p:nvPr/>
        </p:nvSpPr>
        <p:spPr bwMode="auto">
          <a:xfrm>
            <a:off x="21336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6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 </a:t>
            </a:r>
            <a:endParaRPr lang="en-US" altLang="en-US" sz="2800">
              <a:latin typeface="Calibri" panose="020F0502020204030204" pitchFamily="34" charset="0"/>
            </a:endParaRPr>
          </a:p>
        </p:txBody>
      </p:sp>
      <p:sp>
        <p:nvSpPr>
          <p:cNvPr id="11269" name="Content Placeholder 2">
            <a:extLst>
              <a:ext uri="{FF2B5EF4-FFF2-40B4-BE49-F238E27FC236}">
                <a16:creationId xmlns:a16="http://schemas.microsoft.com/office/drawing/2014/main" id="{55E6927D-8A0E-A7FD-E17C-D8217D49DB00}"/>
              </a:ext>
            </a:extLst>
          </p:cNvPr>
          <p:cNvSpPr txBox="1">
            <a:spLocks/>
          </p:cNvSpPr>
          <p:nvPr/>
        </p:nvSpPr>
        <p:spPr bwMode="auto">
          <a:xfrm>
            <a:off x="1981200" y="1219201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</a:rPr>
              <a:t>Another example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Calibri" panose="020F0502020204030204" pitchFamily="34" charset="0"/>
            </a:endParaRPr>
          </a:p>
        </p:txBody>
      </p:sp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5E5138B8-2BAD-9D60-0CC6-DB03D28C71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209800"/>
          <a:ext cx="4337050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749160" progId="Equation.3">
                  <p:embed/>
                </p:oleObj>
              </mc:Choice>
              <mc:Fallback>
                <p:oleObj name="Equation" r:id="rId2" imgW="1866600" imgH="749160" progId="Equation.3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5E5138B8-2BAD-9D60-0CC6-DB03D28C71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09800"/>
                        <a:ext cx="4337050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2CD594E-E20D-BD79-F37E-D8A884161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ED460-E70B-2BAA-6F83-E15D50F8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A87E1-1599-9BA0-4677-0DC213A4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itle 1">
            <a:extLst>
              <a:ext uri="{FF2B5EF4-FFF2-40B4-BE49-F238E27FC236}">
                <a16:creationId xmlns:a16="http://schemas.microsoft.com/office/drawing/2014/main" id="{4D463F6D-3353-0677-C58E-7471ED2F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Bayes Rule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7AE96E76-8C96-5344-231F-65233173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8229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We know that P(rain) = 0.5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If we also know that the grass is wet, then how this affects our belief about whether it rains or not?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en-US" sz="3200">
              <a:latin typeface="Calibri" panose="020F0502020204030204" pitchFamily="34" charset="0"/>
            </a:endParaRPr>
          </a:p>
        </p:txBody>
      </p:sp>
      <p:graphicFrame>
        <p:nvGraphicFramePr>
          <p:cNvPr id="12290" name="Object 3">
            <a:extLst>
              <a:ext uri="{FF2B5EF4-FFF2-40B4-BE49-F238E27FC236}">
                <a16:creationId xmlns:a16="http://schemas.microsoft.com/office/drawing/2014/main" id="{83933FBD-1DFB-AD65-44BA-99DAE0C6B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8964" y="3581400"/>
          <a:ext cx="578008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381000" progId="Equation.3">
                  <p:embed/>
                </p:oleObj>
              </mc:Choice>
              <mc:Fallback>
                <p:oleObj name="Equation" r:id="rId2" imgW="2247900" imgH="381000" progId="Equation.3">
                  <p:embed/>
                  <p:pic>
                    <p:nvPicPr>
                      <p:cNvPr id="12290" name="Object 3">
                        <a:extLst>
                          <a:ext uri="{FF2B5EF4-FFF2-40B4-BE49-F238E27FC236}">
                            <a16:creationId xmlns:a16="http://schemas.microsoft.com/office/drawing/2014/main" id="{83933FBD-1DFB-AD65-44BA-99DAE0C6B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964" y="3581400"/>
                        <a:ext cx="5780087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57DD68C4-FC0F-E8DB-5333-816B5FE6B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7938" y="5316538"/>
          <a:ext cx="41703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100" imgH="393700" progId="Equation.3">
                  <p:embed/>
                </p:oleObj>
              </mc:Choice>
              <mc:Fallback>
                <p:oleObj name="Equation" r:id="rId4" imgW="1435100" imgH="393700" progId="Equation.3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57DD68C4-FC0F-E8DB-5333-816B5FE6BA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938" y="5316538"/>
                        <a:ext cx="41703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A47AC7A-C053-B0F9-B3BC-0893506247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48792-95A9-036B-B0B7-DEE531DF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C8A77-EA5E-CF3E-9563-76D31B8B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>
            <a:extLst>
              <a:ext uri="{FF2B5EF4-FFF2-40B4-BE49-F238E27FC236}">
                <a16:creationId xmlns:a16="http://schemas.microsoft.com/office/drawing/2014/main" id="{0226EE09-6770-832B-7BB7-5B401F2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Bayes Rule cont.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32604B5-B0AF-A502-681D-6430C374A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8229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You can condition on more variables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</p:txBody>
      </p:sp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47CA1545-D262-2AAC-824B-EF02F755E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2133601"/>
          <a:ext cx="608965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482400" progId="Equation.3">
                  <p:embed/>
                </p:oleObj>
              </mc:Choice>
              <mc:Fallback>
                <p:oleObj name="Equation" r:id="rId2" imgW="2095200" imgH="482400" progId="Equation.3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47CA1545-D262-2AAC-824B-EF02F755E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133601"/>
                        <a:ext cx="6089650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14DE6F6-8713-8F5E-D7B8-2E6FDDFA8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176B5-5718-B590-8BE3-A58E6FA9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F5743-6D65-8F50-E96F-827887B9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6F50B49-BBED-3C8A-07BF-428F67A1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100F3B7D-383E-07B1-8091-729CDD4D09ED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  <a:endParaRPr lang="en-US" altLang="en-US" sz="2800">
              <a:latin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DB3E8-E17F-E6AE-57C8-9F1F900EF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47174-415C-2629-C759-418CA39A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1CA01-9BAD-11C5-31DE-389D9BA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9AF30868-CBAA-815F-7B64-9D64C072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Independence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76A8CEE-6EE8-C550-1D4E-8E2559C54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8229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X is independent of Y means that knowing Y does not change our belief about X.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P(X|Y=y) = P(X)  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P(X=x, Y=y) = P(X=x) P(Y=y)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above should hold for all x, y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It is symmetric and written as X </a:t>
            </a:r>
            <a:r>
              <a:rPr lang="en-US" altLang="en-US" sz="3200">
                <a:latin typeface="Calibri" panose="020F0502020204030204" pitchFamily="34" charset="0"/>
                <a:sym typeface="Symbol" panose="05050102010706020507" pitchFamily="18" charset="2"/>
              </a:rPr>
              <a:t> Y</a:t>
            </a:r>
            <a:endParaRPr lang="en-US" altLang="en-US" sz="320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0F881-4F0A-0C9F-8B38-81BFC5619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CE170-8312-5CD8-7DCB-6A4CAF05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CFF91-8DD7-B7ED-30D3-770B8FF0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>
            <a:extLst>
              <a:ext uri="{FF2B5EF4-FFF2-40B4-BE49-F238E27FC236}">
                <a16:creationId xmlns:a16="http://schemas.microsoft.com/office/drawing/2014/main" id="{F4A00BBD-9DDA-5BD2-4795-49DC8BC8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Independence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00508395-1233-F152-A618-D7F9AAB22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a typeface="ＭＳ Ｐゴシック" panose="020B0600070205080204" pitchFamily="34" charset="-128"/>
              </a:rPr>
              <a:t>, …, X</a:t>
            </a:r>
            <a:r>
              <a:rPr lang="en-US" altLang="en-US" baseline="-25000"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a typeface="ＭＳ Ｐゴシック" panose="020B0600070205080204" pitchFamily="34" charset="-128"/>
              </a:rPr>
              <a:t> are independent if and only if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If X</a:t>
            </a:r>
            <a:r>
              <a:rPr lang="en-US" altLang="en-US" baseline="-25000"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a typeface="ＭＳ Ｐゴシック" panose="020B0600070205080204" pitchFamily="34" charset="-128"/>
              </a:rPr>
              <a:t>, …, X</a:t>
            </a:r>
            <a:r>
              <a:rPr lang="en-US" altLang="en-US" baseline="-25000"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a typeface="ＭＳ Ｐゴシック" panose="020B0600070205080204" pitchFamily="34" charset="-128"/>
              </a:rPr>
              <a:t> are independent and identically distributed we say they are </a:t>
            </a:r>
            <a:r>
              <a:rPr lang="en-US" altLang="en-US" i="1">
                <a:ea typeface="ＭＳ Ｐゴシック" panose="020B0600070205080204" pitchFamily="34" charset="-128"/>
              </a:rPr>
              <a:t>iid </a:t>
            </a:r>
            <a:r>
              <a:rPr lang="en-US" altLang="en-US">
                <a:ea typeface="ＭＳ Ｐゴシック" panose="020B0600070205080204" pitchFamily="34" charset="-128"/>
              </a:rPr>
              <a:t>(or that they are a random sample) and we write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	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06DFB09A-2465-6D51-31A3-2BB8B7A78B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2362200"/>
          <a:ext cx="56943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444500" progId="Equation.3">
                  <p:embed/>
                </p:oleObj>
              </mc:Choice>
              <mc:Fallback>
                <p:oleObj name="Equation" r:id="rId2" imgW="2400300" imgH="444500" progId="Equation.3">
                  <p:embed/>
                  <p:pic>
                    <p:nvPicPr>
                      <p:cNvPr id="14338" name="Object 2">
                        <a:extLst>
                          <a:ext uri="{FF2B5EF4-FFF2-40B4-BE49-F238E27FC236}">
                            <a16:creationId xmlns:a16="http://schemas.microsoft.com/office/drawing/2014/main" id="{06DFB09A-2465-6D51-31A3-2BB8B7A78B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362200"/>
                        <a:ext cx="569436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5">
            <a:extLst>
              <a:ext uri="{FF2B5EF4-FFF2-40B4-BE49-F238E27FC236}">
                <a16:creationId xmlns:a16="http://schemas.microsoft.com/office/drawing/2014/main" id="{1C7B3434-CAED-B244-7B46-19A6428E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81600"/>
            <a:ext cx="487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200">
                <a:latin typeface="Calibri" panose="020F0502020204030204" pitchFamily="34" charset="0"/>
              </a:rPr>
              <a:t>X</a:t>
            </a:r>
            <a:r>
              <a:rPr lang="en-US" altLang="en-US" sz="3200" baseline="-25000">
                <a:latin typeface="Calibri" panose="020F0502020204030204" pitchFamily="34" charset="0"/>
              </a:rPr>
              <a:t>1</a:t>
            </a:r>
            <a:r>
              <a:rPr lang="en-US" altLang="en-US" sz="3200">
                <a:latin typeface="Calibri" panose="020F0502020204030204" pitchFamily="34" charset="0"/>
              </a:rPr>
              <a:t>, …, X</a:t>
            </a:r>
            <a:r>
              <a:rPr lang="en-US" altLang="en-US" sz="3200" baseline="-25000">
                <a:latin typeface="Calibri" panose="020F0502020204030204" pitchFamily="34" charset="0"/>
              </a:rPr>
              <a:t>n</a:t>
            </a:r>
            <a:r>
              <a:rPr lang="en-US" altLang="en-US" sz="3200">
                <a:latin typeface="Calibri" panose="020F0502020204030204" pitchFamily="34" charset="0"/>
              </a:rPr>
              <a:t> </a:t>
            </a:r>
            <a:r>
              <a:rPr lang="en-US" altLang="en-US" sz="3000">
                <a:latin typeface="Calibri" panose="020F0502020204030204" pitchFamily="34" charset="0"/>
              </a:rPr>
              <a:t>∼ </a:t>
            </a:r>
            <a:r>
              <a:rPr lang="en-US" altLang="en-US" sz="3000" i="1">
                <a:latin typeface="Calibri" panose="020F0502020204030204" pitchFamily="34" charset="0"/>
              </a:rPr>
              <a:t>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153E5-A7C2-E5C4-7A10-7C8E6B26C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51BFC-FE11-A28B-3CD3-2BD0BF17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CC8C7-B56A-0E22-0475-57477948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2DFEAB1-CEDB-F1EE-46B8-A6040BAB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CI: Conditional Independence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868E61F-11B2-F133-0C4C-6A7B35C88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8229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RV are rarely independent but we can still leverage local structural properties like Conditional Independence.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X </a:t>
            </a:r>
            <a:r>
              <a:rPr lang="en-US" altLang="en-US" sz="3200">
                <a:latin typeface="Calibri" panose="020F0502020204030204" pitchFamily="34" charset="0"/>
                <a:sym typeface="Symbol" panose="05050102010706020507" pitchFamily="18" charset="2"/>
              </a:rPr>
              <a:t> Y | Z if once Z is observed, knowing the value of Y does not change our belief about X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P(rain </a:t>
            </a:r>
            <a:r>
              <a:rPr lang="en-US" altLang="en-US" sz="3200">
                <a:latin typeface="Calibri" panose="020F0502020204030204" pitchFamily="34" charset="0"/>
                <a:sym typeface="Symbol" panose="05050102010706020507" pitchFamily="18" charset="2"/>
              </a:rPr>
              <a:t> sprinkler’s on | cloudy)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sym typeface="Symbol" panose="05050102010706020507" pitchFamily="18" charset="2"/>
              </a:rPr>
              <a:t>P(rain  sprinkler’s on | wet grass)</a:t>
            </a:r>
            <a:endParaRPr lang="en-US" altLang="en-US" sz="32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en-US" sz="320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en-US" sz="3200">
              <a:latin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55E71-F389-E5B6-320E-D2A7DBAC136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886200" y="4572000"/>
            <a:ext cx="228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FB79759-1E28-3621-8D9F-3247644BD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343DB-CC5F-2A8E-833B-E61B3A5B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243C9-1064-1036-BC15-C58D5368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E9261BF6-1ACE-58FF-06E2-205D1745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Conditional Independence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A4C252E-04A8-831B-E44E-B65C827A7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3200">
                <a:ea typeface="ＭＳ Ｐゴシック" panose="020B0600070205080204" pitchFamily="34" charset="-128"/>
                <a:sym typeface="Symbol" panose="05050102010706020507" pitchFamily="18" charset="2"/>
              </a:rPr>
              <a:t>P(X=x | Z=z, Y=y) = P(X=x | Z=z)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3200">
                <a:ea typeface="ＭＳ Ｐゴシック" panose="020B0600070205080204" pitchFamily="34" charset="-128"/>
                <a:sym typeface="Symbol" panose="05050102010706020507" pitchFamily="18" charset="2"/>
              </a:rPr>
              <a:t>P(Y=y | Z=z, X=x) = P(Y=y | Z=z)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3200">
                <a:ea typeface="ＭＳ Ｐゴシック" panose="020B0600070205080204" pitchFamily="34" charset="-128"/>
                <a:sym typeface="Symbol" panose="05050102010706020507" pitchFamily="18" charset="2"/>
              </a:rPr>
              <a:t>P(X=x, Y=y | Z=z) = P(X=x| Z=z) P(Y=y| Z=z) 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3E5E7-F3B9-7485-9E2D-71C7E1CAB3FE}"/>
              </a:ext>
            </a:extLst>
          </p:cNvPr>
          <p:cNvSpPr/>
          <p:nvPr/>
        </p:nvSpPr>
        <p:spPr>
          <a:xfrm>
            <a:off x="5943600" y="2819400"/>
            <a:ext cx="1981200" cy="457200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5F6956-AA97-A3B6-3782-1B51FEE286D6}"/>
              </a:ext>
            </a:extLst>
          </p:cNvPr>
          <p:cNvSpPr/>
          <p:nvPr/>
        </p:nvSpPr>
        <p:spPr>
          <a:xfrm>
            <a:off x="7934325" y="2828925"/>
            <a:ext cx="1905000" cy="457200"/>
          </a:xfrm>
          <a:prstGeom prst="rect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6086" name="TextBox 6">
            <a:extLst>
              <a:ext uri="{FF2B5EF4-FFF2-40B4-BE49-F238E27FC236}">
                <a16:creationId xmlns:a16="http://schemas.microsoft.com/office/drawing/2014/main" id="{F4F8F44C-F599-D491-C410-121D03D8C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225" y="3479800"/>
            <a:ext cx="4325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We call these factors : very useful concept !!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35558D-D7E7-72B7-37DB-5DE2D7A7AE5F}"/>
              </a:ext>
            </a:extLst>
          </p:cNvPr>
          <p:cNvCxnSpPr/>
          <p:nvPr/>
        </p:nvCxnSpPr>
        <p:spPr>
          <a:xfrm rot="16200000" flipH="1">
            <a:off x="6981825" y="3022600"/>
            <a:ext cx="533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F36358-D3CA-E190-E5E2-C77E060435B9}"/>
              </a:ext>
            </a:extLst>
          </p:cNvPr>
          <p:cNvCxnSpPr/>
          <p:nvPr/>
        </p:nvCxnSpPr>
        <p:spPr>
          <a:xfrm rot="5400000">
            <a:off x="8067675" y="2698750"/>
            <a:ext cx="533400" cy="1181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01099A4-D71A-0A33-AC1F-FB980E7E3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4C561-F6CA-6288-B04E-B7BB32AD7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938C0-C91D-37DE-E03F-D438889A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DD754ADA-2D54-E80B-AB8D-58CF6105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53E837C5-6734-15FF-E72C-B19D46147397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C8548B-7F92-147E-BE2D-054AF6016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1FFBB-FC93-98E6-0A2D-B4D643B4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96DD5-DB4C-FE09-3141-687D2B94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>
            <a:extLst>
              <a:ext uri="{FF2B5EF4-FFF2-40B4-BE49-F238E27FC236}">
                <a16:creationId xmlns:a16="http://schemas.microsoft.com/office/drawing/2014/main" id="{C5F24814-114D-54CA-BE7F-D28D0ECE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Mean and Variance</a:t>
            </a:r>
          </a:p>
        </p:txBody>
      </p:sp>
      <p:sp>
        <p:nvSpPr>
          <p:cNvPr id="15368" name="Rectangle 3">
            <a:extLst>
              <a:ext uri="{FF2B5EF4-FFF2-40B4-BE49-F238E27FC236}">
                <a16:creationId xmlns:a16="http://schemas.microsoft.com/office/drawing/2014/main" id="{CBD3D02C-2143-8E7B-DCBA-AB88DFDD5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Mean (Expectation):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Discrete RVs: </a:t>
            </a:r>
          </a:p>
          <a:p>
            <a:pPr lvl="1" eaLnBrk="1" hangingPunct="1"/>
            <a:endParaRPr lang="en-US" altLang="en-US" sz="1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Continuous RVs: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FFBDE558-C172-AE7E-7C9A-4DBA559B8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5664" y="1524001"/>
          <a:ext cx="16843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720" imgH="215640" progId="Equation.DSMT4">
                  <p:embed/>
                </p:oleObj>
              </mc:Choice>
              <mc:Fallback>
                <p:oleObj name="Equation" r:id="rId3" imgW="558720" imgH="215640" progId="Equation.DSMT4">
                  <p:embed/>
                  <p:pic>
                    <p:nvPicPr>
                      <p:cNvPr id="15362" name="Object 2">
                        <a:extLst>
                          <a:ext uri="{FF2B5EF4-FFF2-40B4-BE49-F238E27FC236}">
                            <a16:creationId xmlns:a16="http://schemas.microsoft.com/office/drawing/2014/main" id="{FFBDE558-C172-AE7E-7C9A-4DBA559B86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4" y="1524001"/>
                        <a:ext cx="16843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>
            <a:extLst>
              <a:ext uri="{FF2B5EF4-FFF2-40B4-BE49-F238E27FC236}">
                <a16:creationId xmlns:a16="http://schemas.microsoft.com/office/drawing/2014/main" id="{B24F7C49-180D-5670-3084-EF39A5C806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2133601"/>
          <a:ext cx="3317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279360" progId="Equation.DSMT4">
                  <p:embed/>
                </p:oleObj>
              </mc:Choice>
              <mc:Fallback>
                <p:oleObj name="Equation" r:id="rId5" imgW="1333440" imgH="279360" progId="Equation.DSMT4">
                  <p:embed/>
                  <p:pic>
                    <p:nvPicPr>
                      <p:cNvPr id="15363" name="Object 3">
                        <a:extLst>
                          <a:ext uri="{FF2B5EF4-FFF2-40B4-BE49-F238E27FC236}">
                            <a16:creationId xmlns:a16="http://schemas.microsoft.com/office/drawing/2014/main" id="{B24F7C49-180D-5670-3084-EF39A5C806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2133601"/>
                        <a:ext cx="33178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AE08A87F-7FAA-CAF7-9DFA-384BDF380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733801"/>
          <a:ext cx="28336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342720" progId="Equation.DSMT4">
                  <p:embed/>
                </p:oleObj>
              </mc:Choice>
              <mc:Fallback>
                <p:oleObj name="Equation" r:id="rId7" imgW="1130040" imgH="342720" progId="Equation.DSMT4">
                  <p:embed/>
                  <p:pic>
                    <p:nvPicPr>
                      <p:cNvPr id="15364" name="Object 4">
                        <a:extLst>
                          <a:ext uri="{FF2B5EF4-FFF2-40B4-BE49-F238E27FC236}">
                            <a16:creationId xmlns:a16="http://schemas.microsoft.com/office/drawing/2014/main" id="{AE08A87F-7FAA-CAF7-9DFA-384BDF380F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733801"/>
                        <a:ext cx="283368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FF3D6876-5B1C-B680-6A84-33F44CF4DB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9" y="2895600"/>
          <a:ext cx="43973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54200" imgH="292100" progId="Equation.3">
                  <p:embed/>
                </p:oleObj>
              </mc:Choice>
              <mc:Fallback>
                <p:oleObj name="Equation" r:id="rId9" imgW="1854200" imgH="292100" progId="Equation.3">
                  <p:embed/>
                  <p:pic>
                    <p:nvPicPr>
                      <p:cNvPr id="15365" name="Object 5">
                        <a:extLst>
                          <a:ext uri="{FF2B5EF4-FFF2-40B4-BE49-F238E27FC236}">
                            <a16:creationId xmlns:a16="http://schemas.microsoft.com/office/drawing/2014/main" id="{FF3D6876-5B1C-B680-6A84-33F44CF4D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9" y="2895600"/>
                        <a:ext cx="439737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39F7F479-235A-A587-95B6-C254C1D55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9639" y="4572000"/>
          <a:ext cx="37052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62100" imgH="419100" progId="Equation.3">
                  <p:embed/>
                </p:oleObj>
              </mc:Choice>
              <mc:Fallback>
                <p:oleObj name="Equation" r:id="rId11" imgW="1562100" imgH="419100" progId="Equation.3">
                  <p:embed/>
                  <p:pic>
                    <p:nvPicPr>
                      <p:cNvPr id="15366" name="Object 6">
                        <a:extLst>
                          <a:ext uri="{FF2B5EF4-FFF2-40B4-BE49-F238E27FC236}">
                            <a16:creationId xmlns:a16="http://schemas.microsoft.com/office/drawing/2014/main" id="{39F7F479-235A-A587-95B6-C254C1D558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9" y="4572000"/>
                        <a:ext cx="37052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872C03F-7E07-B4B6-E4CA-0FF41557FC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C6F86-FFEC-46E5-94C3-09450DD1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7E05D-0174-1BED-A07F-0796095E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itle 1">
            <a:extLst>
              <a:ext uri="{FF2B5EF4-FFF2-40B4-BE49-F238E27FC236}">
                <a16:creationId xmlns:a16="http://schemas.microsoft.com/office/drawing/2014/main" id="{A868F2F3-AE65-FC72-9DA7-EBF27A1F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Mean and Variance</a:t>
            </a:r>
          </a:p>
        </p:txBody>
      </p:sp>
      <p:sp>
        <p:nvSpPr>
          <p:cNvPr id="16391" name="Content Placeholder 2">
            <a:extLst>
              <a:ext uri="{FF2B5EF4-FFF2-40B4-BE49-F238E27FC236}">
                <a16:creationId xmlns:a16="http://schemas.microsoft.com/office/drawing/2014/main" id="{6DB4ACF5-9A86-48F0-53E9-6FB23CB44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Variance: 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Discrete RVs:</a:t>
            </a:r>
          </a:p>
          <a:p>
            <a:pPr lvl="1" eaLnBrk="1" hangingPunct="1"/>
            <a:endParaRPr lang="en-US" altLang="en-US" sz="1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Continuous RVs: 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Covariance: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Covariance: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16386" name="Object 6">
            <a:extLst>
              <a:ext uri="{FF2B5EF4-FFF2-40B4-BE49-F238E27FC236}">
                <a16:creationId xmlns:a16="http://schemas.microsoft.com/office/drawing/2014/main" id="{A2B5992D-4B30-DAA2-3697-3F343C498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048001"/>
          <a:ext cx="42418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304560" progId="Equation.DSMT4">
                  <p:embed/>
                </p:oleObj>
              </mc:Choice>
              <mc:Fallback>
                <p:oleObj name="Equation" r:id="rId2" imgW="1701720" imgH="304560" progId="Equation.DSMT4">
                  <p:embed/>
                  <p:pic>
                    <p:nvPicPr>
                      <p:cNvPr id="16386" name="Object 6">
                        <a:extLst>
                          <a:ext uri="{FF2B5EF4-FFF2-40B4-BE49-F238E27FC236}">
                            <a16:creationId xmlns:a16="http://schemas.microsoft.com/office/drawing/2014/main" id="{A2B5992D-4B30-DAA2-3697-3F343C498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048001"/>
                        <a:ext cx="42418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7">
            <a:extLst>
              <a:ext uri="{FF2B5EF4-FFF2-40B4-BE49-F238E27FC236}">
                <a16:creationId xmlns:a16="http://schemas.microsoft.com/office/drawing/2014/main" id="{F4A479FD-A899-E254-3052-E65FD3C026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810000"/>
          <a:ext cx="37846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342720" progId="Equation.DSMT4">
                  <p:embed/>
                </p:oleObj>
              </mc:Choice>
              <mc:Fallback>
                <p:oleObj name="Equation" r:id="rId4" imgW="1511280" imgH="342720" progId="Equation.DSMT4">
                  <p:embed/>
                  <p:pic>
                    <p:nvPicPr>
                      <p:cNvPr id="16387" name="Object 7">
                        <a:extLst>
                          <a:ext uri="{FF2B5EF4-FFF2-40B4-BE49-F238E27FC236}">
                            <a16:creationId xmlns:a16="http://schemas.microsoft.com/office/drawing/2014/main" id="{F4A479FD-A899-E254-3052-E65FD3C026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10000"/>
                        <a:ext cx="37846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2">
            <a:extLst>
              <a:ext uri="{FF2B5EF4-FFF2-40B4-BE49-F238E27FC236}">
                <a16:creationId xmlns:a16="http://schemas.microsoft.com/office/drawing/2014/main" id="{E8725FF6-87E1-3551-6AD3-E6264797C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676401"/>
          <a:ext cx="3252788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44500" progId="Equation.3">
                  <p:embed/>
                </p:oleObj>
              </mc:Choice>
              <mc:Fallback>
                <p:oleObj name="Equation" r:id="rId6" imgW="1371600" imgH="444500" progId="Equation.3">
                  <p:embed/>
                  <p:pic>
                    <p:nvPicPr>
                      <p:cNvPr id="16388" name="Object 2">
                        <a:extLst>
                          <a:ext uri="{FF2B5EF4-FFF2-40B4-BE49-F238E27FC236}">
                            <a16:creationId xmlns:a16="http://schemas.microsoft.com/office/drawing/2014/main" id="{E8725FF6-87E1-3551-6AD3-E6264797C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76401"/>
                        <a:ext cx="3252788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F500293F-FC6F-4209-08CD-0C1CDCA16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715001"/>
          <a:ext cx="7137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900" imgH="203200" progId="Equation.3">
                  <p:embed/>
                </p:oleObj>
              </mc:Choice>
              <mc:Fallback>
                <p:oleObj name="Equation" r:id="rId8" imgW="3009900" imgH="203200" progId="Equation.3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F500293F-FC6F-4209-08CD-0C1CDCA16D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715001"/>
                        <a:ext cx="7137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9F9E5F9-DFDC-F588-D647-9B09E75D65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855DF-4020-6874-547A-47DD024C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8BBD3-0175-64CA-B23F-11F3F06C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itle 1">
            <a:extLst>
              <a:ext uri="{FF2B5EF4-FFF2-40B4-BE49-F238E27FC236}">
                <a16:creationId xmlns:a16="http://schemas.microsoft.com/office/drawing/2014/main" id="{0E544347-78C0-DEA8-DD46-A0A52302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Mean and Variance</a:t>
            </a:r>
          </a:p>
        </p:txBody>
      </p:sp>
      <p:sp>
        <p:nvSpPr>
          <p:cNvPr id="17413" name="Content Placeholder 2">
            <a:extLst>
              <a:ext uri="{FF2B5EF4-FFF2-40B4-BE49-F238E27FC236}">
                <a16:creationId xmlns:a16="http://schemas.microsoft.com/office/drawing/2014/main" id="{6484E082-D542-294B-67F8-661341716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Correlation:</a:t>
            </a:r>
          </a:p>
        </p:txBody>
      </p:sp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14BEB05C-3BA1-19EC-EABF-3BCD2E792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1" y="2362201"/>
          <a:ext cx="37941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203200" progId="Equation.3">
                  <p:embed/>
                </p:oleObj>
              </mc:Choice>
              <mc:Fallback>
                <p:oleObj name="Equation" r:id="rId2" imgW="1600200" imgH="203200" progId="Equation.3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14BEB05C-3BA1-19EC-EABF-3BCD2E792A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362201"/>
                        <a:ext cx="37941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75D50AB8-6DA2-CFFE-1628-C999EF3A2A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048000"/>
          <a:ext cx="22098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00" imgH="152400" progId="Equation.3">
                  <p:embed/>
                </p:oleObj>
              </mc:Choice>
              <mc:Fallback>
                <p:oleObj name="Equation" r:id="rId4" imgW="977900" imgH="152400" progId="Equation.3">
                  <p:embed/>
                  <p:pic>
                    <p:nvPicPr>
                      <p:cNvPr id="17411" name="Object 3">
                        <a:extLst>
                          <a:ext uri="{FF2B5EF4-FFF2-40B4-BE49-F238E27FC236}">
                            <a16:creationId xmlns:a16="http://schemas.microsoft.com/office/drawing/2014/main" id="{75D50AB8-6DA2-CFFE-1628-C999EF3A2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048000"/>
                        <a:ext cx="22098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06331CA-8E0D-420B-8D41-86C1BC69CE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A85C0-088C-B325-8433-5751F7AA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20C81-84BD-F555-3F6C-B78A2A03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2">
            <a:extLst>
              <a:ext uri="{FF2B5EF4-FFF2-40B4-BE49-F238E27FC236}">
                <a16:creationId xmlns:a16="http://schemas.microsoft.com/office/drawing/2014/main" id="{061CE4B9-28CD-25EB-2F41-3BCC0F656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Properties</a:t>
            </a:r>
          </a:p>
        </p:txBody>
      </p:sp>
      <p:sp>
        <p:nvSpPr>
          <p:cNvPr id="18440" name="Rectangle 3">
            <a:extLst>
              <a:ext uri="{FF2B5EF4-FFF2-40B4-BE49-F238E27FC236}">
                <a16:creationId xmlns:a16="http://schemas.microsoft.com/office/drawing/2014/main" id="{78192253-5E2F-41B8-0618-2AFDFC212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Mean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X and Y are independent,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Variance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X and Y are independent,</a:t>
            </a:r>
          </a:p>
        </p:txBody>
      </p:sp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EB63A6B0-112E-9DB7-AAE8-D9600FE3F6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209800"/>
          <a:ext cx="3492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15640" progId="Equation.DSMT4">
                  <p:embed/>
                </p:oleObj>
              </mc:Choice>
              <mc:Fallback>
                <p:oleObj name="Equation" r:id="rId3" imgW="1396800" imgH="215640" progId="Equation.DSMT4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EB63A6B0-112E-9DB7-AAE8-D9600FE3F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09800"/>
                        <a:ext cx="34925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FA9D7A18-45E4-2F80-6810-01B535D57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667001"/>
          <a:ext cx="22494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215640" progId="Equation.DSMT4">
                  <p:embed/>
                </p:oleObj>
              </mc:Choice>
              <mc:Fallback>
                <p:oleObj name="Equation" r:id="rId5" imgW="901440" imgH="215640" progId="Equation.DSMT4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FA9D7A18-45E4-2F80-6810-01B535D579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667001"/>
                        <a:ext cx="224948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6C96BE0A-9EC3-10C6-4216-4800BD968F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3200400"/>
          <a:ext cx="30797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215640" progId="Equation.DSMT4">
                  <p:embed/>
                </p:oleObj>
              </mc:Choice>
              <mc:Fallback>
                <p:oleObj name="Equation" r:id="rId7" imgW="1231560" imgH="215640" progId="Equation.DSMT4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6C96BE0A-9EC3-10C6-4216-4800BD968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200400"/>
                        <a:ext cx="30797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4EAA4A98-BAA7-D23E-A8AE-085798CA0D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343401"/>
          <a:ext cx="28527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30040" imgH="228600" progId="Equation.DSMT4">
                  <p:embed/>
                </p:oleObj>
              </mc:Choice>
              <mc:Fallback>
                <p:oleObj name="Equation" r:id="rId9" imgW="1130040" imgH="228600" progId="Equation.DSMT4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4EAA4A98-BAA7-D23E-A8AE-085798CA0D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343401"/>
                        <a:ext cx="28527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1FC3CFE8-0A17-8F06-085A-291A2EA05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4876801"/>
          <a:ext cx="33274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33440" imgH="215640" progId="Equation.DSMT4">
                  <p:embed/>
                </p:oleObj>
              </mc:Choice>
              <mc:Fallback>
                <p:oleObj name="Equation" r:id="rId11" imgW="1333440" imgH="21564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1FC3CFE8-0A17-8F06-085A-291A2EA05A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1"/>
                        <a:ext cx="33274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A3DBD5-83BA-CA43-8107-56CFF4CE42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29BC0-5DF3-5644-5C77-90C166DD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56257-80A8-DF9C-7A50-22563B0F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itle 1">
            <a:extLst>
              <a:ext uri="{FF2B5EF4-FFF2-40B4-BE49-F238E27FC236}">
                <a16:creationId xmlns:a16="http://schemas.microsoft.com/office/drawing/2014/main" id="{03FA3C68-E753-E3DB-2CCE-80534EA4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Some more properties</a:t>
            </a:r>
          </a:p>
        </p:txBody>
      </p:sp>
      <p:sp>
        <p:nvSpPr>
          <p:cNvPr id="19461" name="Content Placeholder 2">
            <a:extLst>
              <a:ext uri="{FF2B5EF4-FFF2-40B4-BE49-F238E27FC236}">
                <a16:creationId xmlns:a16="http://schemas.microsoft.com/office/drawing/2014/main" id="{71047110-7221-E8C0-C9B4-E6AB8CBBD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conditional expectation of Y given X when the value of X = x is: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The Law of Total Expectation or Law of Iterated Expectation:</a:t>
            </a:r>
          </a:p>
        </p:txBody>
      </p:sp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4A580A59-8F68-C948-BC45-332784445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9413" y="2927350"/>
          <a:ext cx="43370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279360" progId="Equation.3">
                  <p:embed/>
                </p:oleObj>
              </mc:Choice>
              <mc:Fallback>
                <p:oleObj name="Equation" r:id="rId2" imgW="1828800" imgH="279360" progId="Equation.3">
                  <p:embed/>
                  <p:pic>
                    <p:nvPicPr>
                      <p:cNvPr id="19458" name="Object 2">
                        <a:extLst>
                          <a:ext uri="{FF2B5EF4-FFF2-40B4-BE49-F238E27FC236}">
                            <a16:creationId xmlns:a16="http://schemas.microsoft.com/office/drawing/2014/main" id="{4A580A59-8F68-C948-BC45-332784445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2927350"/>
                        <a:ext cx="43370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722E4D62-CCE7-B65B-2D8B-8D0178B63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1351" y="5060950"/>
          <a:ext cx="6507163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79360" progId="Equation.3">
                  <p:embed/>
                </p:oleObj>
              </mc:Choice>
              <mc:Fallback>
                <p:oleObj name="Equation" r:id="rId4" imgW="2743200" imgH="279360" progId="Equation.3">
                  <p:embed/>
                  <p:pic>
                    <p:nvPicPr>
                      <p:cNvPr id="19459" name="Object 3">
                        <a:extLst>
                          <a:ext uri="{FF2B5EF4-FFF2-40B4-BE49-F238E27FC236}">
                            <a16:creationId xmlns:a16="http://schemas.microsoft.com/office/drawing/2014/main" id="{722E4D62-CCE7-B65B-2D8B-8D0178B63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5060950"/>
                        <a:ext cx="6507163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60A6FA1-976A-8BA5-96F5-DCB568FF5F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20E95-C5B8-6999-92AD-A2067F28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A1745-2A43-F911-2A69-4E26AE74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>
            <a:extLst>
              <a:ext uri="{FF2B5EF4-FFF2-40B4-BE49-F238E27FC236}">
                <a16:creationId xmlns:a16="http://schemas.microsoft.com/office/drawing/2014/main" id="{F95BD017-5AE6-F5F4-B56F-E4237F11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Some more properties</a:t>
            </a:r>
          </a:p>
        </p:txBody>
      </p:sp>
      <p:sp>
        <p:nvSpPr>
          <p:cNvPr id="20484" name="Content Placeholder 2">
            <a:extLst>
              <a:ext uri="{FF2B5EF4-FFF2-40B4-BE49-F238E27FC236}">
                <a16:creationId xmlns:a16="http://schemas.microsoft.com/office/drawing/2014/main" id="{B36180A6-DCBF-BF42-5488-3069D55A8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law of Total Variance:</a:t>
            </a:r>
          </a:p>
        </p:txBody>
      </p:sp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3FCB4497-39BC-DA9D-6461-B0048B883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2620964"/>
          <a:ext cx="57515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700" imgH="215900" progId="Equation.3">
                  <p:embed/>
                </p:oleObj>
              </mc:Choice>
              <mc:Fallback>
                <p:oleObj name="Equation" r:id="rId2" imgW="2425700" imgH="215900" progId="Equation.3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3FCB4497-39BC-DA9D-6461-B0048B883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2620964"/>
                        <a:ext cx="57515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40FF2FC-6364-501C-BBEA-B8706212D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66BAC-CB15-D301-0586-3E2D34F4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08F13-CB8B-BB3F-C632-C18F15CD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F00D2C42-C23B-EF7E-AFE2-E9453A84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8D9ECAE5-AF26-5387-2273-DA7DFA75A7EA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1071D-2358-9A70-218B-0F627AF5D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E861E-82C4-3AC0-8CB0-364B4812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EF060-8D99-0630-5102-30394322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E9C5A8D-AF96-FC17-D3A3-D4A4A2793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Big Picture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1904BD-6EA8-FCFD-ECB2-AF150D9A9809}"/>
              </a:ext>
            </a:extLst>
          </p:cNvPr>
          <p:cNvSpPr/>
          <p:nvPr/>
        </p:nvSpPr>
        <p:spPr>
          <a:xfrm>
            <a:off x="3048000" y="2438400"/>
            <a:ext cx="1143000" cy="99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  <a:ea typeface="ＭＳ Ｐゴシック" charset="-128"/>
              </a:rPr>
              <a:t>Model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034723-47AF-6040-C8A0-C7F918F1F6A6}"/>
              </a:ext>
            </a:extLst>
          </p:cNvPr>
          <p:cNvSpPr/>
          <p:nvPr/>
        </p:nvSpPr>
        <p:spPr>
          <a:xfrm>
            <a:off x="7391400" y="2438400"/>
            <a:ext cx="1143000" cy="99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  <a:ea typeface="ＭＳ Ｐゴシック" charset="-128"/>
              </a:rPr>
              <a:t>Data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E8E2F0D4-2B67-F3AA-07D3-DBD5AE0603DC}"/>
              </a:ext>
            </a:extLst>
          </p:cNvPr>
          <p:cNvCxnSpPr>
            <a:stCxn id="4" idx="0"/>
            <a:endCxn id="5" idx="0"/>
          </p:cNvCxnSpPr>
          <p:nvPr/>
        </p:nvCxnSpPr>
        <p:spPr>
          <a:xfrm rot="5400000" flipH="1" flipV="1">
            <a:off x="5791201" y="266701"/>
            <a:ext cx="3175" cy="4343400"/>
          </a:xfrm>
          <a:prstGeom prst="bentConnector3">
            <a:avLst>
              <a:gd name="adj1" fmla="val 1924452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8" name="TextBox 11">
            <a:extLst>
              <a:ext uri="{FF2B5EF4-FFF2-40B4-BE49-F238E27FC236}">
                <a16:creationId xmlns:a16="http://schemas.microsoft.com/office/drawing/2014/main" id="{C33A4679-91AC-12FC-6EF5-0E4521635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447800"/>
            <a:ext cx="1195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Probability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E0D32CD-A71E-5F27-B053-EDF7D257D60C}"/>
              </a:ext>
            </a:extLst>
          </p:cNvPr>
          <p:cNvCxnSpPr>
            <a:stCxn id="5" idx="4"/>
            <a:endCxn id="4" idx="4"/>
          </p:cNvCxnSpPr>
          <p:nvPr/>
        </p:nvCxnSpPr>
        <p:spPr>
          <a:xfrm rot="5400000">
            <a:off x="5791201" y="1257301"/>
            <a:ext cx="3175" cy="4343400"/>
          </a:xfrm>
          <a:prstGeom prst="bent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60" name="TextBox 14">
            <a:extLst>
              <a:ext uri="{FF2B5EF4-FFF2-40B4-BE49-F238E27FC236}">
                <a16:creationId xmlns:a16="http://schemas.microsoft.com/office/drawing/2014/main" id="{AEEC789B-54A9-A377-B449-6CC7A4EAE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1" y="3810000"/>
            <a:ext cx="2035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Estimation/learning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3C85B-F504-D59A-B377-BE1AA3D71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BFA9-81B9-1F38-4756-4431A357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0B3BF-9A5F-1020-E9EA-62C90013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723C340F-92FE-0870-98D7-D1FE5524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Statistical Inference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AB54BF22-5276-30EC-3A64-228FCA829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Given observations from a model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What (conditional) independence assumptions hold?   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Structure learning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you know the family of the model (ex, multinomial), What are the value of the parameters: MLE, Bayesian estimation.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Parameter learning</a:t>
            </a:r>
          </a:p>
          <a:p>
            <a:pPr lvl="2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B050F2-3C95-9266-764B-765E9C1D4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37022-76D1-5DA3-E317-B30B7716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137F6-F27D-6903-B115-06AF459F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BBE3B78-224E-C833-9C2F-A1DB7D54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Probability Review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2EC29624-D592-749B-62C0-964B9A1C606C}"/>
              </a:ext>
            </a:extLst>
          </p:cNvPr>
          <p:cNvSpPr txBox="1">
            <a:spLocks/>
          </p:cNvSpPr>
          <p:nvPr/>
        </p:nvSpPr>
        <p:spPr bwMode="auto">
          <a:xfrm>
            <a:off x="1981200" y="1143001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Events and Event spaces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Random variables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Joint probability distributions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Marginalization, conditioning, chain rule, Bayes Rule, law of total probability, etc.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Structural properties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Independence, conditional independence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Mean and Variance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D9D9D9"/>
                </a:solidFill>
                <a:latin typeface="Calibri" panose="020F0502020204030204" pitchFamily="34" charset="0"/>
              </a:rPr>
              <a:t>The big picture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4C981-A1A4-A109-0AEE-6710BA581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8258A-3F3B-BBE4-CE9D-DAFA0C0C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DB182-80F6-092F-6487-4B4A54FA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0E8796A-BA53-6F3F-9B80-0DABBFA15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Monty Hall Problem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3F415CF-F3DA-6D10-C799-217F21ACC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You're given the choice of three doors: Behind one door is a car; behind the others, goats. 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You pick a door, say No. 1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The host, who knows what's behind the doors, opens another door, say No. 3, which has a goat.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Do you want to pick door No. 2 instead?</a:t>
            </a:r>
          </a:p>
        </p:txBody>
      </p:sp>
      <p:pic>
        <p:nvPicPr>
          <p:cNvPr id="52228" name="Picture 5" descr="Image:Monty open door.svg">
            <a:hlinkClick r:id="rId3"/>
            <a:extLst>
              <a:ext uri="{FF2B5EF4-FFF2-40B4-BE49-F238E27FC236}">
                <a16:creationId xmlns:a16="http://schemas.microsoft.com/office/drawing/2014/main" id="{77D80BB5-60EE-C71F-869C-E5D36CCB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26" y="4876800"/>
            <a:ext cx="3419475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8BFC56-2D8D-8837-6182-379A2FAB8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33C92-13A6-05C5-A25E-725E8294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E064B-9270-70CE-F721-D1930869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51" descr="80px-Pfeil">
            <a:hlinkClick r:id="rId3" tooltip="Pfeil.png"/>
            <a:extLst>
              <a:ext uri="{FF2B5EF4-FFF2-40B4-BE49-F238E27FC236}">
                <a16:creationId xmlns:a16="http://schemas.microsoft.com/office/drawing/2014/main" id="{15E2B6E4-B4C5-A6A4-9E14-FF4410770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304801"/>
            <a:ext cx="76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9615" name="Group 287">
            <a:extLst>
              <a:ext uri="{FF2B5EF4-FFF2-40B4-BE49-F238E27FC236}">
                <a16:creationId xmlns:a16="http://schemas.microsoft.com/office/drawing/2014/main" id="{E42F61D8-5DD0-4B24-DDDF-C8A44460A9C1}"/>
              </a:ext>
            </a:extLst>
          </p:cNvPr>
          <p:cNvGraphicFramePr>
            <a:graphicFrameLocks noGrp="1"/>
          </p:cNvGraphicFramePr>
          <p:nvPr/>
        </p:nvGraphicFramePr>
        <p:xfrm>
          <a:off x="2724150" y="304800"/>
          <a:ext cx="6743700" cy="6324601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9013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hlinkClick r:id="rId5" tooltip="Monty-CurlyPicksCar.svg"/>
                        </a:rPr>
                        <a:t>  </a:t>
                      </a:r>
                      <a:r>
                        <a:rPr kumimoji="0" lang="en-US" sz="7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           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58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hlinkClick r:id="rId6" tooltip="Monty-CurlyPicksGoatA.svg"/>
                        </a:rPr>
                        <a:t>  </a:t>
                      </a:r>
                      <a:r>
                        <a:rPr kumimoji="0" lang="en-US" sz="7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           </a:t>
                      </a:r>
                    </a:p>
                  </a:txBody>
                  <a:tcPr horzOverflow="overflow">
                    <a:lnL>
                      <a:noFill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Host must</a:t>
                      </a:r>
                      <a:b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reveal Goat B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</a:t>
                      </a: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           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hlinkClick r:id="rId7" tooltip="Monty-CurlyPicksGoatB.svg"/>
                        </a:rPr>
                        <a:t>  </a:t>
                      </a:r>
                      <a:r>
                        <a:rPr kumimoji="0" lang="en-US" sz="7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           </a:t>
                      </a:r>
                    </a:p>
                  </a:txBody>
                  <a:tcPr horzOverflow="overflow">
                    <a:lnL>
                      <a:noFill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Host must</a:t>
                      </a:r>
                      <a:b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reveal Goat A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                       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</a:t>
                      </a:r>
                      <a:r>
                        <a:rPr kumimoji="0" lang="en-US" sz="7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                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9617" name="Group 289">
            <a:extLst>
              <a:ext uri="{FF2B5EF4-FFF2-40B4-BE49-F238E27FC236}">
                <a16:creationId xmlns:a16="http://schemas.microsoft.com/office/drawing/2014/main" id="{F7FD4B34-1524-D563-9A6D-4634BB318A95}"/>
              </a:ext>
            </a:extLst>
          </p:cNvPr>
          <p:cNvGraphicFramePr>
            <a:graphicFrameLocks noGrp="1"/>
          </p:cNvGraphicFramePr>
          <p:nvPr/>
        </p:nvGraphicFramePr>
        <p:xfrm>
          <a:off x="5480050" y="314326"/>
          <a:ext cx="3949700" cy="1668463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8463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Host reveals</a:t>
                      </a:r>
                      <a:b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Goat A</a:t>
                      </a:r>
                      <a:b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or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Host reveals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Goat 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           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</a:t>
                      </a:r>
                      <a:r>
                        <a:rPr kumimoji="0" lang="en-US" sz="7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           </a:t>
                      </a:r>
                    </a:p>
                  </a:txBody>
                  <a:tcPr horzOverflow="overflow">
                    <a:lnL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3280" name="Picture 147" descr="163px-Monty-CurlyPicksCar">
            <a:hlinkClick r:id="rId5" tooltip="Monty-CurlyPicksCar.svg"/>
            <a:extLst>
              <a:ext uri="{FF2B5EF4-FFF2-40B4-BE49-F238E27FC236}">
                <a16:creationId xmlns:a16="http://schemas.microsoft.com/office/drawing/2014/main" id="{9D9CAAEF-470A-F7B7-39FF-0BD912444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350839"/>
            <a:ext cx="2322513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1" name="Picture 150" descr="80px-Pfeil">
            <a:hlinkClick r:id="rId3" tooltip="Pfeil.png"/>
            <a:extLst>
              <a:ext uri="{FF2B5EF4-FFF2-40B4-BE49-F238E27FC236}">
                <a16:creationId xmlns:a16="http://schemas.microsoft.com/office/drawing/2014/main" id="{26B53223-2D8C-CB44-BBDC-829B54D84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675" y="360364"/>
            <a:ext cx="76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2" name="Picture 153" descr="88px-Monty-DoubleSwitchfromCar">
            <a:hlinkClick r:id="rId9" tooltip="Monty-DoubleSwitchfromCar.svg"/>
            <a:extLst>
              <a:ext uri="{FF2B5EF4-FFF2-40B4-BE49-F238E27FC236}">
                <a16:creationId xmlns:a16="http://schemas.microsoft.com/office/drawing/2014/main" id="{58AE7B44-5708-40C5-8059-30A1016BE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38" y="360363"/>
            <a:ext cx="1262062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3" name="Picture 160" descr="163px-Monty-CurlyPicksGoatA">
            <a:hlinkClick r:id="rId6" tooltip="Monty-CurlyPicksGoatA.svg"/>
            <a:extLst>
              <a:ext uri="{FF2B5EF4-FFF2-40B4-BE49-F238E27FC236}">
                <a16:creationId xmlns:a16="http://schemas.microsoft.com/office/drawing/2014/main" id="{368BDB0C-B235-A839-D9FB-F90D7459C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8" y="2638426"/>
            <a:ext cx="2322512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4" name="Picture 162" descr="80px-Pfeil">
            <a:hlinkClick r:id="rId3" tooltip="Pfeil.png"/>
            <a:extLst>
              <a:ext uri="{FF2B5EF4-FFF2-40B4-BE49-F238E27FC236}">
                <a16:creationId xmlns:a16="http://schemas.microsoft.com/office/drawing/2014/main" id="{1EC4762B-741E-F68E-513C-50D06B6D6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476626"/>
            <a:ext cx="76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5" name="Picture 164" descr="194px-Monty-SwitchfromGoatA">
            <a:hlinkClick r:id="rId12" tooltip="Monty-SwitchfromGoatA.svg"/>
            <a:extLst>
              <a:ext uri="{FF2B5EF4-FFF2-40B4-BE49-F238E27FC236}">
                <a16:creationId xmlns:a16="http://schemas.microsoft.com/office/drawing/2014/main" id="{55B04678-04BA-EA4E-CD15-7490FB1B1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635250"/>
            <a:ext cx="2770188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6" name="Picture 171" descr="163px-Monty-CurlyPicksGoatB">
            <a:hlinkClick r:id="rId7" tooltip="Monty-CurlyPicksGoatB.svg"/>
            <a:extLst>
              <a:ext uri="{FF2B5EF4-FFF2-40B4-BE49-F238E27FC236}">
                <a16:creationId xmlns:a16="http://schemas.microsoft.com/office/drawing/2014/main" id="{745F04F3-C35C-58B3-A86C-9E31D5E09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4695826"/>
            <a:ext cx="2322513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7" name="Picture 173" descr="80px-Pfeil">
            <a:hlinkClick r:id="rId3" tooltip="Pfeil.png"/>
            <a:extLst>
              <a:ext uri="{FF2B5EF4-FFF2-40B4-BE49-F238E27FC236}">
                <a16:creationId xmlns:a16="http://schemas.microsoft.com/office/drawing/2014/main" id="{951D1844-3B93-881E-647C-57C440372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610226"/>
            <a:ext cx="76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8" name="Picture 175" descr="194px-Monty-SwitchfromGoatB">
            <a:hlinkClick r:id="rId15" tooltip="Monty-SwitchfromGoatB.svg"/>
            <a:extLst>
              <a:ext uri="{FF2B5EF4-FFF2-40B4-BE49-F238E27FC236}">
                <a16:creationId xmlns:a16="http://schemas.microsoft.com/office/drawing/2014/main" id="{3364570C-8006-FB9D-B420-E32E7030C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692650"/>
            <a:ext cx="2770188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89" name="Picture 288" descr="80px-Pfeil">
            <a:hlinkClick r:id="rId3" tooltip="Pfeil.png"/>
            <a:extLst>
              <a:ext uri="{FF2B5EF4-FFF2-40B4-BE49-F238E27FC236}">
                <a16:creationId xmlns:a16="http://schemas.microsoft.com/office/drawing/2014/main" id="{1802D128-9588-C0F5-84B6-B37ED8584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343026"/>
            <a:ext cx="76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4F7D06-8CD1-B7D9-B6F9-EC1B631D48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26787-66EB-910B-B0F6-E9A02CD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13E11-7504-D372-771B-FD746D9A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2">
            <a:extLst>
              <a:ext uri="{FF2B5EF4-FFF2-40B4-BE49-F238E27FC236}">
                <a16:creationId xmlns:a16="http://schemas.microsoft.com/office/drawing/2014/main" id="{E7933C29-E07C-B45B-19A2-CC882367E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Monty Hall Problem: Bayes Rule</a:t>
            </a:r>
          </a:p>
        </p:txBody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6AE9E34A-3290-1093-0E07-5D017410E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   : the car is behind door </a:t>
            </a:r>
            <a:r>
              <a:rPr lang="en-US" altLang="en-US" i="1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 = 1, 2, 3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   : the host opens door </a:t>
            </a:r>
            <a:r>
              <a:rPr lang="en-US" altLang="en-US" i="1">
                <a:ea typeface="ＭＳ Ｐゴシック" panose="020B0600070205080204" pitchFamily="34" charset="-128"/>
              </a:rPr>
              <a:t>j</a:t>
            </a:r>
            <a:r>
              <a:rPr lang="en-US" altLang="en-US">
                <a:ea typeface="ＭＳ Ｐゴシック" panose="020B0600070205080204" pitchFamily="34" charset="-128"/>
              </a:rPr>
              <a:t> after you pick door </a:t>
            </a:r>
            <a:r>
              <a:rPr lang="en-US" altLang="en-US" i="1">
                <a:ea typeface="ＭＳ Ｐゴシック" panose="020B0600070205080204" pitchFamily="34" charset="-128"/>
              </a:rPr>
              <a:t>i</a:t>
            </a:r>
          </a:p>
          <a:p>
            <a:pPr eaLnBrk="1" hangingPunct="1"/>
            <a:endParaRPr lang="en-US" altLang="en-US" i="1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i="1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i="1"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646E60FB-6FA7-3E91-D1F5-220FB048CF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60020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90440" progId="Equation.DSMT4">
                  <p:embed/>
                </p:oleObj>
              </mc:Choice>
              <mc:Fallback>
                <p:oleObj name="Equation" r:id="rId3" imgW="152280" imgH="190440" progId="Equation.DSMT4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646E60FB-6FA7-3E91-D1F5-220FB048CF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0"/>
                        <a:ext cx="457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B96A6233-CDFD-F688-5354-672F4B3A9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6626" y="2743201"/>
          <a:ext cx="6127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15640" progId="Equation.DSMT4">
                  <p:embed/>
                </p:oleObj>
              </mc:Choice>
              <mc:Fallback>
                <p:oleObj name="Equation" r:id="rId5" imgW="203040" imgH="215640" progId="Equation.DSMT4">
                  <p:embed/>
                  <p:pic>
                    <p:nvPicPr>
                      <p:cNvPr id="21507" name="Object 3">
                        <a:extLst>
                          <a:ext uri="{FF2B5EF4-FFF2-40B4-BE49-F238E27FC236}">
                            <a16:creationId xmlns:a16="http://schemas.microsoft.com/office/drawing/2014/main" id="{B96A6233-CDFD-F688-5354-672F4B3A9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6" y="2743201"/>
                        <a:ext cx="61277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AA10CA0D-3DC8-D1CA-E5D3-D49F2DDD0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0300" y="2209800"/>
          <a:ext cx="1943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15640" progId="Equation.DSMT4">
                  <p:embed/>
                </p:oleObj>
              </mc:Choice>
              <mc:Fallback>
                <p:oleObj name="Equation" r:id="rId7" imgW="647640" imgH="215640" progId="Equation.DSMT4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id="{AA10CA0D-3DC8-D1CA-E5D3-D49F2DDD0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209800"/>
                        <a:ext cx="1943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72D71174-BD80-85C7-91D3-3BA34148BC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3164" y="3657601"/>
          <a:ext cx="4872037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774360" progId="Equation.DSMT4">
                  <p:embed/>
                </p:oleObj>
              </mc:Choice>
              <mc:Fallback>
                <p:oleObj name="Equation" r:id="rId9" imgW="1625400" imgH="774360" progId="Equation.DSMT4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72D71174-BD80-85C7-91D3-3BA34148BC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4" y="3657601"/>
                        <a:ext cx="4872037" cy="232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A231968-4113-174D-A9D6-C897147104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00A01-DED0-85EA-6B61-D98B0982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4B9A4-89F0-620D-C337-D593CE78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2C68DE24-C01F-8767-75EE-1F66E8008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9144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Monty Hall Problem: Bayes Rule cont.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6619A751-B1A2-F34A-AAA6-9770F39995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WLOG, </a:t>
            </a:r>
            <a:r>
              <a:rPr lang="en-US" altLang="en-US" i="1">
                <a:ea typeface="ＭＳ Ｐゴシック" panose="020B0600070205080204" pitchFamily="34" charset="-128"/>
              </a:rPr>
              <a:t>i</a:t>
            </a:r>
            <a:r>
              <a:rPr lang="en-US" altLang="en-US">
                <a:ea typeface="ＭＳ Ｐゴシック" panose="020B0600070205080204" pitchFamily="34" charset="-128"/>
              </a:rPr>
              <a:t>=1, </a:t>
            </a:r>
            <a:r>
              <a:rPr lang="en-US" altLang="en-US" i="1">
                <a:ea typeface="ＭＳ Ｐゴシック" panose="020B0600070205080204" pitchFamily="34" charset="-128"/>
              </a:rPr>
              <a:t>j</a:t>
            </a:r>
            <a:r>
              <a:rPr lang="en-US" altLang="en-US">
                <a:ea typeface="ＭＳ Ｐゴシック" panose="020B0600070205080204" pitchFamily="34" charset="-128"/>
              </a:rPr>
              <a:t>=3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C78F58D2-9432-B715-6DBE-69214D21F1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4" y="2362200"/>
          <a:ext cx="5037137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444240" progId="Equation.DSMT4">
                  <p:embed/>
                </p:oleObj>
              </mc:Choice>
              <mc:Fallback>
                <p:oleObj name="Equation" r:id="rId3" imgW="1676160" imgH="444240" progId="Equation.DSMT4">
                  <p:embed/>
                  <p:pic>
                    <p:nvPicPr>
                      <p:cNvPr id="22530" name="Object 2">
                        <a:extLst>
                          <a:ext uri="{FF2B5EF4-FFF2-40B4-BE49-F238E27FC236}">
                            <a16:creationId xmlns:a16="http://schemas.microsoft.com/office/drawing/2014/main" id="{C78F58D2-9432-B715-6DBE-69214D21F1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4" y="2362200"/>
                        <a:ext cx="5037137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17BDA0BC-4967-E2DD-06D4-4DA5E39AA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733800"/>
          <a:ext cx="457993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355320" progId="Equation.DSMT4">
                  <p:embed/>
                </p:oleObj>
              </mc:Choice>
              <mc:Fallback>
                <p:oleObj name="Equation" r:id="rId5" imgW="1523880" imgH="355320" progId="Equation.DSMT4">
                  <p:embed/>
                  <p:pic>
                    <p:nvPicPr>
                      <p:cNvPr id="22531" name="Object 3">
                        <a:extLst>
                          <a:ext uri="{FF2B5EF4-FFF2-40B4-BE49-F238E27FC236}">
                            <a16:creationId xmlns:a16="http://schemas.microsoft.com/office/drawing/2014/main" id="{17BDA0BC-4967-E2DD-06D4-4DA5E39AA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33800"/>
                        <a:ext cx="457993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C9DA861-A967-4BD0-E24F-D72BC4D652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054CF-DF1A-CA23-3A6E-B7D51870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B93-E6C4-2805-B6F4-82D913D8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>
            <a:extLst>
              <a:ext uri="{FF2B5EF4-FFF2-40B4-BE49-F238E27FC236}">
                <a16:creationId xmlns:a16="http://schemas.microsoft.com/office/drawing/2014/main" id="{F6BBE903-A561-B7D2-F3C8-5B31880E4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Monty Hall Problem: Bayes Rule cont.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6A3DB9C-702B-4391-EB0E-E8CE796DCB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C841F614-0D76-2CA5-F449-08048B75B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1" y="1600201"/>
          <a:ext cx="7578725" cy="346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1155600" progId="Equation.DSMT4">
                  <p:embed/>
                </p:oleObj>
              </mc:Choice>
              <mc:Fallback>
                <p:oleObj name="Equation" r:id="rId3" imgW="2527200" imgH="1155600" progId="Equation.DSMT4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C841F614-0D76-2CA5-F449-08048B75B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600201"/>
                        <a:ext cx="7578725" cy="346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4D3F09ED-26B5-A0DB-9FE3-C670EAA98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5105400"/>
          <a:ext cx="3390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380880" progId="Equation.DSMT4">
                  <p:embed/>
                </p:oleObj>
              </mc:Choice>
              <mc:Fallback>
                <p:oleObj name="Equation" r:id="rId5" imgW="1130040" imgH="380880" progId="Equation.DSMT4">
                  <p:embed/>
                  <p:pic>
                    <p:nvPicPr>
                      <p:cNvPr id="23555" name="Object 3">
                        <a:extLst>
                          <a:ext uri="{FF2B5EF4-FFF2-40B4-BE49-F238E27FC236}">
                            <a16:creationId xmlns:a16="http://schemas.microsoft.com/office/drawing/2014/main" id="{4D3F09ED-26B5-A0DB-9FE3-C670EAA98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5105400"/>
                        <a:ext cx="33909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FA9FBBB-4B58-D2B1-3D03-1F3E78BCC8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FC272-D350-32A3-EA2A-741CDAB8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7994D-89EE-21ED-7578-EEE5B5D0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346C11C8-D057-A404-1A01-81FC49478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Monty Hall Problem: Bayes Rule cont.</a:t>
            </a:r>
          </a:p>
        </p:txBody>
      </p:sp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5C349957-1CED-0E61-1876-C6A0A9F6850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14600" y="1676400"/>
          <a:ext cx="3390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380880" progId="Equation.DSMT4">
                  <p:embed/>
                </p:oleObj>
              </mc:Choice>
              <mc:Fallback>
                <p:oleObj name="Equation" r:id="rId3" imgW="1130040" imgH="380880" progId="Equation.DSMT4">
                  <p:embed/>
                  <p:pic>
                    <p:nvPicPr>
                      <p:cNvPr id="24578" name="Object 2">
                        <a:extLst>
                          <a:ext uri="{FF2B5EF4-FFF2-40B4-BE49-F238E27FC236}">
                            <a16:creationId xmlns:a16="http://schemas.microsoft.com/office/drawing/2014/main" id="{5C349957-1CED-0E61-1876-C6A0A9F68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76400"/>
                        <a:ext cx="33909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6">
            <a:extLst>
              <a:ext uri="{FF2B5EF4-FFF2-40B4-BE49-F238E27FC236}">
                <a16:creationId xmlns:a16="http://schemas.microsoft.com/office/drawing/2014/main" id="{05D8390E-1DA5-7D08-8EA4-04F5ECBDC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828801"/>
            <a:ext cx="8229600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r>
              <a:rPr lang="en-US" altLang="en-US" sz="3200">
                <a:latin typeface="Calibri" panose="020F0502020204030204" pitchFamily="34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endParaRPr lang="en-US" altLang="en-US" sz="10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endParaRPr lang="en-US" altLang="en-US" sz="10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r>
              <a:rPr lang="en-US" altLang="en-US" sz="3200">
                <a:latin typeface="Calibri" panose="020F0502020204030204" pitchFamily="34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endParaRPr lang="en-US" altLang="en-US" sz="20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</a:pPr>
            <a:r>
              <a:rPr lang="en-US" altLang="en-US" sz="3200" i="1">
                <a:latin typeface="Calibri" panose="020F0502020204030204" pitchFamily="34" charset="0"/>
              </a:rPr>
              <a:t>You should switch!</a:t>
            </a:r>
          </a:p>
        </p:txBody>
      </p:sp>
      <p:graphicFrame>
        <p:nvGraphicFramePr>
          <p:cNvPr id="24579" name="Object 3">
            <a:extLst>
              <a:ext uri="{FF2B5EF4-FFF2-40B4-BE49-F238E27FC236}">
                <a16:creationId xmlns:a16="http://schemas.microsoft.com/office/drawing/2014/main" id="{55825FB6-3403-48F5-1416-341CCAE5C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628900"/>
          <a:ext cx="5715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760" imgH="355320" progId="Equation.DSMT4">
                  <p:embed/>
                </p:oleObj>
              </mc:Choice>
              <mc:Fallback>
                <p:oleObj name="Equation" r:id="rId5" imgW="1904760" imgH="355320" progId="Equation.DSMT4">
                  <p:embed/>
                  <p:pic>
                    <p:nvPicPr>
                      <p:cNvPr id="24579" name="Object 3">
                        <a:extLst>
                          <a:ext uri="{FF2B5EF4-FFF2-40B4-BE49-F238E27FC236}">
                            <a16:creationId xmlns:a16="http://schemas.microsoft.com/office/drawing/2014/main" id="{55825FB6-3403-48F5-1416-341CCAE5CF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628900"/>
                        <a:ext cx="5715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5D88146-8A6E-CB38-B293-DA5A6997C9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5687B-0B28-DCCE-C8A2-85611200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C2E78-6CB2-D780-248B-5E051AC0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>
            <a:extLst>
              <a:ext uri="{FF2B5EF4-FFF2-40B4-BE49-F238E27FC236}">
                <a16:creationId xmlns:a16="http://schemas.microsoft.com/office/drawing/2014/main" id="{B2E83BCD-415F-4615-2820-501FEE33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Information Theory</a:t>
            </a:r>
          </a:p>
        </p:txBody>
      </p:sp>
      <p:sp>
        <p:nvSpPr>
          <p:cNvPr id="25604" name="Content Placeholder 2">
            <a:extLst>
              <a:ext uri="{FF2B5EF4-FFF2-40B4-BE49-F238E27FC236}">
                <a16:creationId xmlns:a16="http://schemas.microsoft.com/office/drawing/2014/main" id="{3728870C-59C7-5BE1-A3D8-422EA097B404}"/>
              </a:ext>
            </a:extLst>
          </p:cNvPr>
          <p:cNvSpPr txBox="1">
            <a:spLocks/>
          </p:cNvSpPr>
          <p:nvPr/>
        </p:nvSpPr>
        <p:spPr bwMode="auto">
          <a:xfrm>
            <a:off x="1981200" y="1219201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</a:rPr>
              <a:t>P(X) encodes our uncertainty about X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Some variables are more uncertain that others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How can we quantify this intuition?</a:t>
            </a:r>
          </a:p>
          <a:p>
            <a:pPr lvl="2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Entropy: average number of bits required to encode X</a:t>
            </a:r>
          </a:p>
          <a:p>
            <a:pPr lvl="2" eaLnBrk="1" hangingPunct="1">
              <a:spcBef>
                <a:spcPct val="20000"/>
              </a:spcBef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39D93F-0FB3-9D61-A203-E316F53971EC}"/>
              </a:ext>
            </a:extLst>
          </p:cNvPr>
          <p:cNvCxnSpPr/>
          <p:nvPr/>
        </p:nvCxnSpPr>
        <p:spPr>
          <a:xfrm>
            <a:off x="3048000" y="3429000"/>
            <a:ext cx="2133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15545C8-A202-16BD-9D15-030FB4898C0D}"/>
              </a:ext>
            </a:extLst>
          </p:cNvPr>
          <p:cNvSpPr/>
          <p:nvPr/>
        </p:nvSpPr>
        <p:spPr>
          <a:xfrm>
            <a:off x="3200400" y="2438400"/>
            <a:ext cx="152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B8DCE-0A6F-2D1F-2274-50E5410BC5EF}"/>
              </a:ext>
            </a:extLst>
          </p:cNvPr>
          <p:cNvSpPr/>
          <p:nvPr/>
        </p:nvSpPr>
        <p:spPr>
          <a:xfrm>
            <a:off x="3657600" y="3200400"/>
            <a:ext cx="1524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3703B3-CB79-2F40-F94A-C0296E74B389}"/>
              </a:ext>
            </a:extLst>
          </p:cNvPr>
          <p:cNvSpPr/>
          <p:nvPr/>
        </p:nvSpPr>
        <p:spPr>
          <a:xfrm>
            <a:off x="4114800" y="3276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24C31C-C526-9161-5430-4EE4ED35C0CE}"/>
              </a:ext>
            </a:extLst>
          </p:cNvPr>
          <p:cNvSpPr/>
          <p:nvPr/>
        </p:nvSpPr>
        <p:spPr>
          <a:xfrm>
            <a:off x="4419600" y="3276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169DE4-3D19-E153-014D-2C4A2D97A6D1}"/>
              </a:ext>
            </a:extLst>
          </p:cNvPr>
          <p:cNvCxnSpPr/>
          <p:nvPr/>
        </p:nvCxnSpPr>
        <p:spPr>
          <a:xfrm>
            <a:off x="6400800" y="3429000"/>
            <a:ext cx="2133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2423E-3009-7320-CBB3-8B69793BC995}"/>
              </a:ext>
            </a:extLst>
          </p:cNvPr>
          <p:cNvSpPr/>
          <p:nvPr/>
        </p:nvSpPr>
        <p:spPr>
          <a:xfrm>
            <a:off x="6553200" y="2971800"/>
            <a:ext cx="152400" cy="457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503577-034E-E5D6-90A2-BD747815A54A}"/>
              </a:ext>
            </a:extLst>
          </p:cNvPr>
          <p:cNvSpPr/>
          <p:nvPr/>
        </p:nvSpPr>
        <p:spPr>
          <a:xfrm>
            <a:off x="7010400" y="2971800"/>
            <a:ext cx="152400" cy="457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A3A19-15BC-3398-B809-7CC45BA28771}"/>
              </a:ext>
            </a:extLst>
          </p:cNvPr>
          <p:cNvSpPr/>
          <p:nvPr/>
        </p:nvSpPr>
        <p:spPr>
          <a:xfrm>
            <a:off x="7467600" y="3124200"/>
            <a:ext cx="152400" cy="304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D88C3C-EED8-B7CA-5C48-F51B5FCBB59F}"/>
              </a:ext>
            </a:extLst>
          </p:cNvPr>
          <p:cNvSpPr/>
          <p:nvPr/>
        </p:nvSpPr>
        <p:spPr>
          <a:xfrm>
            <a:off x="7772400" y="3124200"/>
            <a:ext cx="152400" cy="304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615" name="TextBox 17">
            <a:extLst>
              <a:ext uri="{FF2B5EF4-FFF2-40B4-BE49-F238E27FC236}">
                <a16:creationId xmlns:a16="http://schemas.microsoft.com/office/drawing/2014/main" id="{51AC4A9A-938B-7F8A-8D76-DAAFEE211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8194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P(X)</a:t>
            </a:r>
          </a:p>
        </p:txBody>
      </p:sp>
      <p:sp>
        <p:nvSpPr>
          <p:cNvPr id="25616" name="TextBox 18">
            <a:extLst>
              <a:ext uri="{FF2B5EF4-FFF2-40B4-BE49-F238E27FC236}">
                <a16:creationId xmlns:a16="http://schemas.microsoft.com/office/drawing/2014/main" id="{E7C2E354-CB08-0CE4-793D-B80FE4560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743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P(Y)</a:t>
            </a:r>
          </a:p>
        </p:txBody>
      </p:sp>
      <p:sp>
        <p:nvSpPr>
          <p:cNvPr id="25617" name="TextBox 19">
            <a:extLst>
              <a:ext uri="{FF2B5EF4-FFF2-40B4-BE49-F238E27FC236}">
                <a16:creationId xmlns:a16="http://schemas.microsoft.com/office/drawing/2014/main" id="{21D54BD6-1A15-E197-BC36-0D7E14EC7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24200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25618" name="TextBox 20">
            <a:extLst>
              <a:ext uri="{FF2B5EF4-FFF2-40B4-BE49-F238E27FC236}">
                <a16:creationId xmlns:a16="http://schemas.microsoft.com/office/drawing/2014/main" id="{666D4254-7050-42EF-743C-67D33D02E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124200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Y</a:t>
            </a:r>
          </a:p>
        </p:txBody>
      </p:sp>
      <p:graphicFrame>
        <p:nvGraphicFramePr>
          <p:cNvPr id="25602" name="Object 2">
            <a:extLst>
              <a:ext uri="{FF2B5EF4-FFF2-40B4-BE49-F238E27FC236}">
                <a16:creationId xmlns:a16="http://schemas.microsoft.com/office/drawing/2014/main" id="{BFF14768-FF33-A34F-DE73-D44BE8795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1051" y="5151439"/>
          <a:ext cx="546417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457200" progId="Equation.3">
                  <p:embed/>
                </p:oleObj>
              </mc:Choice>
              <mc:Fallback>
                <p:oleObj name="Equation" r:id="rId2" imgW="3733560" imgH="457200" progId="Equation.3">
                  <p:embed/>
                  <p:pic>
                    <p:nvPicPr>
                      <p:cNvPr id="25602" name="Object 2">
                        <a:extLst>
                          <a:ext uri="{FF2B5EF4-FFF2-40B4-BE49-F238E27FC236}">
                            <a16:creationId xmlns:a16="http://schemas.microsoft.com/office/drawing/2014/main" id="{BFF14768-FF33-A34F-DE73-D44BE8795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1" y="5151439"/>
                        <a:ext cx="5464175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6283E1D-4823-5733-E1ED-47818AB95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22FBA-3222-798A-21CE-9DC0FFF8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85B70-056A-B0C5-AFF3-CE92BDD3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itle 1">
            <a:extLst>
              <a:ext uri="{FF2B5EF4-FFF2-40B4-BE49-F238E27FC236}">
                <a16:creationId xmlns:a16="http://schemas.microsoft.com/office/drawing/2014/main" id="{251E07AE-F9F7-BB62-A939-FDEEA3CF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Information Theory cont.</a:t>
            </a:r>
          </a:p>
        </p:txBody>
      </p:sp>
      <p:sp>
        <p:nvSpPr>
          <p:cNvPr id="26630" name="Content Placeholder 2">
            <a:extLst>
              <a:ext uri="{FF2B5EF4-FFF2-40B4-BE49-F238E27FC236}">
                <a16:creationId xmlns:a16="http://schemas.microsoft.com/office/drawing/2014/main" id="{DBD31133-25E2-A906-00A0-F1A45048E0B9}"/>
              </a:ext>
            </a:extLst>
          </p:cNvPr>
          <p:cNvSpPr txBox="1">
            <a:spLocks/>
          </p:cNvSpPr>
          <p:nvPr/>
        </p:nvSpPr>
        <p:spPr bwMode="auto">
          <a:xfrm>
            <a:off x="1981200" y="1219201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Entropy: average number of bits required to encode X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We can define conditional entropy similarly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i.e. once Y is known, we only need H(X,Y) – H(Y) bits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We can also define chain rule for entropies (not surprising)</a:t>
            </a:r>
          </a:p>
        </p:txBody>
      </p:sp>
      <p:graphicFrame>
        <p:nvGraphicFramePr>
          <p:cNvPr id="26626" name="Object 3">
            <a:extLst>
              <a:ext uri="{FF2B5EF4-FFF2-40B4-BE49-F238E27FC236}">
                <a16:creationId xmlns:a16="http://schemas.microsoft.com/office/drawing/2014/main" id="{CA3501AE-BCAE-4252-20B9-B093ACDAC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505200"/>
          <a:ext cx="4999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520560" progId="Equation.3">
                  <p:embed/>
                </p:oleObj>
              </mc:Choice>
              <mc:Fallback>
                <p:oleObj name="Equation" r:id="rId2" imgW="3416040" imgH="520560" progId="Equation.3">
                  <p:embed/>
                  <p:pic>
                    <p:nvPicPr>
                      <p:cNvPr id="26626" name="Object 3">
                        <a:extLst>
                          <a:ext uri="{FF2B5EF4-FFF2-40B4-BE49-F238E27FC236}">
                            <a16:creationId xmlns:a16="http://schemas.microsoft.com/office/drawing/2014/main" id="{CA3501AE-BCAE-4252-20B9-B093ACDAC3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505200"/>
                        <a:ext cx="4999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>
            <a:extLst>
              <a:ext uri="{FF2B5EF4-FFF2-40B4-BE49-F238E27FC236}">
                <a16:creationId xmlns:a16="http://schemas.microsoft.com/office/drawing/2014/main" id="{B004F89E-1470-467B-4C90-4CCB05A02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410201"/>
          <a:ext cx="50371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41600" imgH="241200" progId="Equation.3">
                  <p:embed/>
                </p:oleObj>
              </mc:Choice>
              <mc:Fallback>
                <p:oleObj name="Equation" r:id="rId4" imgW="3441600" imgH="241200" progId="Equation.3">
                  <p:embed/>
                  <p:pic>
                    <p:nvPicPr>
                      <p:cNvPr id="26627" name="Object 4">
                        <a:extLst>
                          <a:ext uri="{FF2B5EF4-FFF2-40B4-BE49-F238E27FC236}">
                            <a16:creationId xmlns:a16="http://schemas.microsoft.com/office/drawing/2014/main" id="{B004F89E-1470-467B-4C90-4CCB05A02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410201"/>
                        <a:ext cx="50371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2">
            <a:extLst>
              <a:ext uri="{FF2B5EF4-FFF2-40B4-BE49-F238E27FC236}">
                <a16:creationId xmlns:a16="http://schemas.microsoft.com/office/drawing/2014/main" id="{02F5B98C-C196-A773-7D07-5BAD97069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1905000"/>
          <a:ext cx="54641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33560" imgH="457200" progId="Equation.3">
                  <p:embed/>
                </p:oleObj>
              </mc:Choice>
              <mc:Fallback>
                <p:oleObj name="Equation" r:id="rId6" imgW="3733560" imgH="457200" progId="Equation.3">
                  <p:embed/>
                  <p:pic>
                    <p:nvPicPr>
                      <p:cNvPr id="26628" name="Object 2">
                        <a:extLst>
                          <a:ext uri="{FF2B5EF4-FFF2-40B4-BE49-F238E27FC236}">
                            <a16:creationId xmlns:a16="http://schemas.microsoft.com/office/drawing/2014/main" id="{02F5B98C-C196-A773-7D07-5BAD97069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1905000"/>
                        <a:ext cx="546417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7AC448E-87E8-AF81-95F4-8E78CBFE02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86642-7F41-D0BD-2064-EB7F909A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21DB7-FE87-783E-9FA9-C126D55D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itle 1">
            <a:extLst>
              <a:ext uri="{FF2B5EF4-FFF2-40B4-BE49-F238E27FC236}">
                <a16:creationId xmlns:a16="http://schemas.microsoft.com/office/drawing/2014/main" id="{673A3EEB-6203-696B-54D0-4451A5AB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Mutual Information: MI</a:t>
            </a:r>
          </a:p>
        </p:txBody>
      </p:sp>
      <p:sp>
        <p:nvSpPr>
          <p:cNvPr id="27653" name="Content Placeholder 2">
            <a:extLst>
              <a:ext uri="{FF2B5EF4-FFF2-40B4-BE49-F238E27FC236}">
                <a16:creationId xmlns:a16="http://schemas.microsoft.com/office/drawing/2014/main" id="{56EC8714-47C3-845D-5324-08A969C579CF}"/>
              </a:ext>
            </a:extLst>
          </p:cNvPr>
          <p:cNvSpPr txBox="1">
            <a:spLocks/>
          </p:cNvSpPr>
          <p:nvPr/>
        </p:nvSpPr>
        <p:spPr bwMode="auto">
          <a:xfrm>
            <a:off x="1981200" y="1219201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Remember independence?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If X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Y then knowing Y won’t change our belief about X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Mutual information can help quantify this! (not the only way though)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MI: 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“The amount of uncertainty in X which is removed by knowing Y”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Symmetric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I(X;Y) = 0 iff, X and Y are independent!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F7CC20B9-24FB-908A-04C2-4A4C30D0C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2971801"/>
          <a:ext cx="314007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241200" progId="Equation.3">
                  <p:embed/>
                </p:oleObj>
              </mc:Choice>
              <mc:Fallback>
                <p:oleObj name="Equation" r:id="rId2" imgW="2145960" imgH="241200" progId="Equation.3">
                  <p:embed/>
                  <p:pic>
                    <p:nvPicPr>
                      <p:cNvPr id="27650" name="Object 2">
                        <a:extLst>
                          <a:ext uri="{FF2B5EF4-FFF2-40B4-BE49-F238E27FC236}">
                            <a16:creationId xmlns:a16="http://schemas.microsoft.com/office/drawing/2014/main" id="{F7CC20B9-24FB-908A-04C2-4A4C30D0C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971801"/>
                        <a:ext cx="314007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">
            <a:extLst>
              <a:ext uri="{FF2B5EF4-FFF2-40B4-BE49-F238E27FC236}">
                <a16:creationId xmlns:a16="http://schemas.microsoft.com/office/drawing/2014/main" id="{C9BE609D-80D9-FD73-79E1-449D0A932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5334000"/>
          <a:ext cx="3551238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5680" imgH="457200" progId="Equation.3">
                  <p:embed/>
                </p:oleObj>
              </mc:Choice>
              <mc:Fallback>
                <p:oleObj name="Equation" r:id="rId4" imgW="2425680" imgH="457200" progId="Equation.3">
                  <p:embed/>
                  <p:pic>
                    <p:nvPicPr>
                      <p:cNvPr id="27651" name="Object 4">
                        <a:extLst>
                          <a:ext uri="{FF2B5EF4-FFF2-40B4-BE49-F238E27FC236}">
                            <a16:creationId xmlns:a16="http://schemas.microsoft.com/office/drawing/2014/main" id="{C9BE609D-80D9-FD73-79E1-449D0A932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34000"/>
                        <a:ext cx="3551238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8341A00-A0C2-AED5-C9E8-5E6DBDA600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E90F1-EC17-017D-8F44-91B73044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15B46-D48C-BD33-A563-CF18CAC6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2">
            <a:extLst>
              <a:ext uri="{FF2B5EF4-FFF2-40B4-BE49-F238E27FC236}">
                <a16:creationId xmlns:a16="http://schemas.microsoft.com/office/drawing/2014/main" id="{745D4E75-02D8-D966-59A9-41CEBFA4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Chi Square Test for Independence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 sz="3600">
                <a:ea typeface="ＭＳ Ｐゴシック" panose="020B0600070205080204" pitchFamily="34" charset="-128"/>
              </a:rPr>
              <a:t>(Example)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C2CC4E4-4BF3-B03A-EC4C-F5CF2766C1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986209"/>
              </p:ext>
            </p:extLst>
          </p:nvPr>
        </p:nvGraphicFramePr>
        <p:xfrm>
          <a:off x="2300319" y="2030572"/>
          <a:ext cx="82296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Republican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Democrat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Independent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Male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Female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450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307" name="Rectangle 1">
            <a:extLst>
              <a:ext uri="{FF2B5EF4-FFF2-40B4-BE49-F238E27FC236}">
                <a16:creationId xmlns:a16="http://schemas.microsoft.com/office/drawing/2014/main" id="{72C8933A-671E-6A90-8DDC-5A812A21E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549651"/>
            <a:ext cx="7848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sz="2400" b="1"/>
              <a:t> </a:t>
            </a:r>
            <a:r>
              <a:rPr lang="en-US" altLang="en-US" sz="2400"/>
              <a:t>State the </a:t>
            </a:r>
            <a:r>
              <a:rPr lang="en-US" altLang="en-US" sz="2400" b="1"/>
              <a:t>hypotheses</a:t>
            </a:r>
          </a:p>
          <a:p>
            <a:r>
              <a:rPr lang="en-US" altLang="en-US" sz="2400"/>
              <a:t>H</a:t>
            </a:r>
            <a:r>
              <a:rPr lang="en-US" altLang="en-US" sz="2400" baseline="-30000"/>
              <a:t>0</a:t>
            </a:r>
            <a:r>
              <a:rPr lang="en-US" altLang="en-US" sz="2400"/>
              <a:t>: Gender and voting preferences are independent. </a:t>
            </a:r>
            <a:br>
              <a:rPr lang="en-US" altLang="en-US" sz="2400"/>
            </a:br>
            <a:r>
              <a:rPr lang="en-US" altLang="en-US" sz="2400"/>
              <a:t>H</a:t>
            </a:r>
            <a:r>
              <a:rPr lang="en-US" altLang="en-US" sz="2400" baseline="-30000"/>
              <a:t>a</a:t>
            </a:r>
            <a:r>
              <a:rPr lang="en-US" altLang="en-US" sz="2400"/>
              <a:t>: Gender and voting preferences are not independent</a:t>
            </a:r>
          </a:p>
          <a:p>
            <a:endParaRPr lang="en-US" altLang="en-US" sz="2400"/>
          </a:p>
          <a:p>
            <a:pPr>
              <a:buFontTx/>
              <a:buChar char="•"/>
            </a:pPr>
            <a:r>
              <a:rPr lang="en-US" altLang="en-US" sz="2400"/>
              <a:t> Choose</a:t>
            </a:r>
            <a:r>
              <a:rPr lang="en-US" altLang="en-US" sz="2400" b="1"/>
              <a:t> significance level</a:t>
            </a:r>
            <a:r>
              <a:rPr lang="en-US" altLang="en-US" sz="2400"/>
              <a:t> </a:t>
            </a:r>
          </a:p>
          <a:p>
            <a:r>
              <a:rPr lang="en-US" altLang="en-US" sz="2400"/>
              <a:t>Say, 0.05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29DB6-9562-A007-299B-713CA10D1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6C883-F3AB-07F9-707E-485214B3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54B03-B8E3-89E9-61B1-FED78A64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65F1298D-A50B-ED87-5C1C-54039831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Chi Square Test for Independence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7C9234AE-B1BE-F979-895D-B17F685B6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Analyze sample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>
                <a:ea typeface="ＭＳ Ｐゴシック" panose="020B0600070205080204" pitchFamily="34" charset="-128"/>
              </a:rPr>
              <a:t>Degrees of freedom </a:t>
            </a:r>
            <a:r>
              <a:rPr lang="en-US" altLang="en-US">
                <a:ea typeface="ＭＳ Ｐゴシック" panose="020B0600070205080204" pitchFamily="34" charset="-128"/>
              </a:rPr>
              <a:t>=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|g|-1 * |v|-1 = (2-1) * (3-1) =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>
                <a:ea typeface="ＭＳ Ｐゴシック" panose="020B0600070205080204" pitchFamily="34" charset="-128"/>
              </a:rPr>
              <a:t>Expected frequency count</a:t>
            </a:r>
            <a:r>
              <a:rPr lang="en-US" altLang="en-US">
                <a:ea typeface="ＭＳ Ｐゴシック" panose="020B0600070205080204" pitchFamily="34" charset="-128"/>
              </a:rPr>
              <a:t> =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altLang="en-US" sz="1800">
                <a:ea typeface="ＭＳ Ｐゴシック" panose="020B0600070205080204" pitchFamily="34" charset="-128"/>
              </a:rPr>
              <a:t>	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g,v</a:t>
            </a:r>
            <a:r>
              <a:rPr lang="pt-BR" altLang="en-US" sz="1800">
                <a:ea typeface="ＭＳ Ｐゴシック" panose="020B0600070205080204" pitchFamily="34" charset="-128"/>
              </a:rPr>
              <a:t> = (n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g</a:t>
            </a:r>
            <a:r>
              <a:rPr lang="pt-BR" altLang="en-US" sz="1800">
                <a:ea typeface="ＭＳ Ｐゴシック" panose="020B0600070205080204" pitchFamily="34" charset="-128"/>
              </a:rPr>
              <a:t> * n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v</a:t>
            </a:r>
            <a:r>
              <a:rPr lang="pt-BR" altLang="en-US" sz="1800">
                <a:ea typeface="ＭＳ Ｐゴシック" panose="020B0600070205080204" pitchFamily="34" charset="-128"/>
              </a:rPr>
              <a:t>) / n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endParaRPr lang="pt-BR" altLang="en-US" sz="1800">
              <a:ea typeface="ＭＳ Ｐゴシック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pt-BR" altLang="en-US" sz="1800">
                <a:ea typeface="ＭＳ Ｐゴシック" panose="020B0600070205080204" pitchFamily="34" charset="-128"/>
              </a:rPr>
              <a:t>	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m,r</a:t>
            </a:r>
            <a:r>
              <a:rPr lang="pt-BR" altLang="en-US" sz="1800">
                <a:ea typeface="ＭＳ Ｐゴシック" panose="020B0600070205080204" pitchFamily="34" charset="-128"/>
              </a:rPr>
              <a:t> = (400 * 450) / 1000 = 180000/1000 = 180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r>
              <a:rPr lang="pt-BR" altLang="en-US" sz="1800">
                <a:ea typeface="ＭＳ Ｐゴシック" panose="020B0600070205080204" pitchFamily="34" charset="-128"/>
              </a:rPr>
              <a:t>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m,d</a:t>
            </a:r>
            <a:r>
              <a:rPr lang="pt-BR" altLang="en-US" sz="1800">
                <a:ea typeface="ＭＳ Ｐゴシック" panose="020B0600070205080204" pitchFamily="34" charset="-128"/>
              </a:rPr>
              <a:t>= (400 * 450) / 1000 = 180000/1000 = 180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r>
              <a:rPr lang="pt-BR" altLang="en-US" sz="1800">
                <a:ea typeface="ＭＳ Ｐゴシック" panose="020B0600070205080204" pitchFamily="34" charset="-128"/>
              </a:rPr>
              <a:t>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m,i</a:t>
            </a:r>
            <a:r>
              <a:rPr lang="pt-BR" altLang="en-US" sz="1800">
                <a:ea typeface="ＭＳ Ｐゴシック" panose="020B0600070205080204" pitchFamily="34" charset="-128"/>
              </a:rPr>
              <a:t> = (400 * 100) / 1000 = 40000/1000 = 40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r>
              <a:rPr lang="pt-BR" altLang="en-US" sz="1800">
                <a:ea typeface="ＭＳ Ｐゴシック" panose="020B0600070205080204" pitchFamily="34" charset="-128"/>
              </a:rPr>
              <a:t>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f,r</a:t>
            </a:r>
            <a:r>
              <a:rPr lang="pt-BR" altLang="en-US" sz="1800">
                <a:ea typeface="ＭＳ Ｐゴシック" panose="020B0600070205080204" pitchFamily="34" charset="-128"/>
              </a:rPr>
              <a:t> = (600 * 450) / 1000 = 270000/1000 = 270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r>
              <a:rPr lang="pt-BR" altLang="en-US" sz="1800">
                <a:ea typeface="ＭＳ Ｐゴシック" panose="020B0600070205080204" pitchFamily="34" charset="-128"/>
              </a:rPr>
              <a:t>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f,d</a:t>
            </a:r>
            <a:r>
              <a:rPr lang="pt-BR" altLang="en-US" sz="1800">
                <a:ea typeface="ＭＳ Ｐゴシック" panose="020B0600070205080204" pitchFamily="34" charset="-128"/>
              </a:rPr>
              <a:t> = (600 * 450) / 1000 = 270000/1000 = 270</a:t>
            </a:r>
            <a:br>
              <a:rPr lang="pt-BR" altLang="en-US" sz="1800">
                <a:ea typeface="ＭＳ Ｐゴシック" panose="020B0600070205080204" pitchFamily="34" charset="-128"/>
              </a:rPr>
            </a:br>
            <a:r>
              <a:rPr lang="pt-BR" altLang="en-US" sz="1800">
                <a:ea typeface="ＭＳ Ｐゴシック" panose="020B0600070205080204" pitchFamily="34" charset="-128"/>
              </a:rPr>
              <a:t>E</a:t>
            </a:r>
            <a:r>
              <a:rPr lang="pt-BR" altLang="en-US" sz="1800" baseline="-25000">
                <a:ea typeface="ＭＳ Ｐゴシック" panose="020B0600070205080204" pitchFamily="34" charset="-128"/>
              </a:rPr>
              <a:t>f,i</a:t>
            </a:r>
            <a:r>
              <a:rPr lang="pt-BR" altLang="en-US" sz="1800">
                <a:ea typeface="ＭＳ Ｐゴシック" panose="020B0600070205080204" pitchFamily="34" charset="-128"/>
              </a:rPr>
              <a:t> = (600 * 100) / 1000 = 60000/1000 = 60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78AC8D1B-E567-F4D4-107A-0EA2D8C93E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5445444"/>
              </p:ext>
            </p:extLst>
          </p:nvPr>
        </p:nvGraphicFramePr>
        <p:xfrm>
          <a:off x="6449897" y="1872004"/>
          <a:ext cx="5087500" cy="1556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24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Republican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Democrat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49">
                <a:tc>
                  <a:txBody>
                    <a:bodyPr/>
                    <a:lstStyle/>
                    <a:p>
                      <a:r>
                        <a:rPr lang="en-US" sz="1000" b="1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49">
                <a:tc>
                  <a:txBody>
                    <a:bodyPr/>
                    <a:lstStyle/>
                    <a:p>
                      <a:r>
                        <a:rPr lang="en-US" sz="1000" b="1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49">
                <a:tc>
                  <a:txBody>
                    <a:bodyPr/>
                    <a:lstStyle/>
                    <a:p>
                      <a:r>
                        <a:rPr lang="en-US" sz="10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4806C0-A927-000B-D330-9B738DDB7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A7B29-E6BC-E6CA-4256-EAE72D14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DE07C-4A5F-5EB2-5921-84ED1B9F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>
            <a:extLst>
              <a:ext uri="{FF2B5EF4-FFF2-40B4-BE49-F238E27FC236}">
                <a16:creationId xmlns:a16="http://schemas.microsoft.com/office/drawing/2014/main" id="{6C005E4C-DD7C-6151-F8CB-2A465FA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Chi Square Test for Independence</a:t>
            </a:r>
          </a:p>
        </p:txBody>
      </p:sp>
      <p:sp>
        <p:nvSpPr>
          <p:cNvPr id="28676" name="Content Placeholder 2">
            <a:extLst>
              <a:ext uri="{FF2B5EF4-FFF2-40B4-BE49-F238E27FC236}">
                <a16:creationId xmlns:a16="http://schemas.microsoft.com/office/drawing/2014/main" id="{09D9CCA3-79AE-EB0F-94F5-3122220D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Chi-square </a:t>
            </a:r>
            <a:r>
              <a:rPr lang="en-US" altLang="en-US" b="1">
                <a:ea typeface="ＭＳ Ｐゴシック" panose="020B0600070205080204" pitchFamily="34" charset="-128"/>
              </a:rPr>
              <a:t>test statistic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l-GR" altLang="en-US" sz="2400">
                <a:ea typeface="ＭＳ Ｐゴシック" panose="020B0600070205080204" pitchFamily="34" charset="-128"/>
              </a:rPr>
              <a:t>Χ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 = (200 - 180)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/180 + (150 - 180)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/180 + (50 - 40)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/40</a:t>
            </a:r>
            <a:r>
              <a:rPr lang="en-US" altLang="en-US" sz="2400">
                <a:ea typeface="ＭＳ Ｐゴシック" panose="020B0600070205080204" pitchFamily="34" charset="-128"/>
              </a:rPr>
              <a:t> </a:t>
            </a:r>
            <a:r>
              <a:rPr lang="el-GR" altLang="en-US" sz="2400">
                <a:ea typeface="ＭＳ Ｐゴシック" panose="020B0600070205080204" pitchFamily="34" charset="-128"/>
              </a:rPr>
              <a:t>+ 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		</a:t>
            </a:r>
            <a:r>
              <a:rPr lang="el-GR" altLang="en-US" sz="2400">
                <a:ea typeface="ＭＳ Ｐゴシック" panose="020B0600070205080204" pitchFamily="34" charset="-128"/>
              </a:rPr>
              <a:t>(250 - 270)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/270 + (300 - 270)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/270 + (50 - 60)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/40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r>
              <a:rPr lang="el-GR" altLang="en-US" sz="2400">
                <a:ea typeface="ＭＳ Ｐゴシック" panose="020B0600070205080204" pitchFamily="34" charset="-128"/>
              </a:rPr>
              <a:t>Χ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 = 400/180 + 900/180 + 100/40 + 400/270 + 900/270 +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		</a:t>
            </a:r>
            <a:r>
              <a:rPr lang="el-GR" altLang="en-US" sz="2400">
                <a:ea typeface="ＭＳ Ｐゴシック" panose="020B0600070205080204" pitchFamily="34" charset="-128"/>
              </a:rPr>
              <a:t>100/60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r>
              <a:rPr lang="el-GR" altLang="en-US" sz="2400">
                <a:ea typeface="ＭＳ Ｐゴシック" panose="020B0600070205080204" pitchFamily="34" charset="-128"/>
              </a:rPr>
              <a:t>Χ</a:t>
            </a:r>
            <a:r>
              <a:rPr lang="el-GR" altLang="en-US" sz="2400" baseline="30000">
                <a:ea typeface="ＭＳ Ｐゴシック" panose="020B0600070205080204" pitchFamily="34" charset="-128"/>
              </a:rPr>
              <a:t>2</a:t>
            </a:r>
            <a:r>
              <a:rPr lang="el-GR" altLang="en-US" sz="2400">
                <a:ea typeface="ＭＳ Ｐゴシック" panose="020B0600070205080204" pitchFamily="34" charset="-128"/>
              </a:rPr>
              <a:t> = 2.22 + 5.00 + 2.50 + 1.48 + 3.33 + 1.67 = 16.2</a:t>
            </a:r>
            <a:endParaRPr lang="en-US" altLang="en-US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28674" name="Object 2">
            <a:extLst>
              <a:ext uri="{FF2B5EF4-FFF2-40B4-BE49-F238E27FC236}">
                <a16:creationId xmlns:a16="http://schemas.microsoft.com/office/drawing/2014/main" id="{BCD403E3-B871-BB68-FC74-634CB0392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5538" y="2243139"/>
          <a:ext cx="22098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507960" progId="Equation.3">
                  <p:embed/>
                </p:oleObj>
              </mc:Choice>
              <mc:Fallback>
                <p:oleObj name="Equation" r:id="rId2" imgW="1511280" imgH="507960" progId="Equation.3">
                  <p:embed/>
                  <p:pic>
                    <p:nvPicPr>
                      <p:cNvPr id="28674" name="Object 2">
                        <a:extLst>
                          <a:ext uri="{FF2B5EF4-FFF2-40B4-BE49-F238E27FC236}">
                            <a16:creationId xmlns:a16="http://schemas.microsoft.com/office/drawing/2014/main" id="{BCD403E3-B871-BB68-FC74-634CB0392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2243139"/>
                        <a:ext cx="22098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764B531-FE6C-BA70-12AC-76648E8956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364087"/>
              </p:ext>
            </p:extLst>
          </p:nvPr>
        </p:nvGraphicFramePr>
        <p:xfrm>
          <a:off x="6921415" y="1838122"/>
          <a:ext cx="4523927" cy="1423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49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Republican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Democrat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90">
                <a:tc>
                  <a:txBody>
                    <a:bodyPr/>
                    <a:lstStyle/>
                    <a:p>
                      <a:r>
                        <a:rPr lang="en-US" sz="1000" b="1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92">
                <a:tc>
                  <a:txBody>
                    <a:bodyPr/>
                    <a:lstStyle/>
                    <a:p>
                      <a:r>
                        <a:rPr lang="en-US" sz="1000" b="1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90">
                <a:tc>
                  <a:txBody>
                    <a:bodyPr/>
                    <a:lstStyle/>
                    <a:p>
                      <a:r>
                        <a:rPr lang="en-US" sz="10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697BC0A-6957-FDDA-C4B3-FA739D044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B07CD-7E0A-CC81-1E53-731C38AF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7714B-1B83-E2FB-6B1F-3E3BA763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EF14AA97-0422-6C6B-08CB-77EBF350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Chi Square Test for Independence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D947A28B-E38D-4171-ED6A-F35F03D61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P-value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Probability of observing a sample statistic as extreme as the test statistic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P(X</a:t>
            </a:r>
            <a:r>
              <a:rPr lang="en-US" altLang="en-US" baseline="30000"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a typeface="ＭＳ Ｐゴシック" panose="020B0600070205080204" pitchFamily="34" charset="-128"/>
              </a:rPr>
              <a:t> ≥ 16.2) = 0.0003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Since </a:t>
            </a:r>
            <a:r>
              <a:rPr lang="en-US" altLang="en-US" b="1">
                <a:ea typeface="ＭＳ Ｐゴシック" panose="020B0600070205080204" pitchFamily="34" charset="-128"/>
              </a:rPr>
              <a:t>P-value</a:t>
            </a:r>
            <a:r>
              <a:rPr lang="en-US" altLang="en-US">
                <a:ea typeface="ＭＳ Ｐゴシック" panose="020B0600070205080204" pitchFamily="34" charset="-128"/>
              </a:rPr>
              <a:t> (0.0003) is less than the significance level (0.05), we cannot accept the null hypothesis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There is a relationship between gender and voting preference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6EA40-D926-FBB6-433C-038BFBF00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80205-7D5D-3874-3E34-DF53B40C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6DA3B-87CC-5720-D819-E48CE7E6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BFD9-7F67-435F-A4E5-E749888D87C9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138635-A563-40CD-B9A3-7C6A14C7D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CFE315-0734-464A-82CD-89EB4F421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6" y="4389120"/>
            <a:ext cx="10675951" cy="1069848"/>
          </a:xfrm>
        </p:spPr>
        <p:txBody>
          <a:bodyPr>
            <a:noAutofit/>
          </a:bodyPr>
          <a:lstStyle/>
          <a:p>
            <a:endParaRPr lang="en-IN" sz="3200" b="0" i="0" dirty="0">
              <a:effectLst/>
              <a:latin typeface="-apple-system"/>
            </a:endParaRPr>
          </a:p>
          <a:p>
            <a:r>
              <a:rPr lang="en-IN" sz="3600" b="0" i="0" dirty="0">
                <a:effectLst/>
                <a:latin typeface="-apple-system"/>
              </a:rPr>
              <a:t>www.linkedin.com/in/ajantha-devi-vairamani</a:t>
            </a:r>
          </a:p>
          <a:p>
            <a:endParaRPr lang="en-IN" sz="500" b="0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en-IN" sz="3200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YouTube: @DemystifywithAjay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AFDB8-E07E-0189-6DC1-4D2BA7644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35" y="28604"/>
            <a:ext cx="2207243" cy="54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52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1639</TotalTime>
  <Words>2877</Words>
  <Application>Microsoft Office PowerPoint</Application>
  <PresentationFormat>Widescreen</PresentationFormat>
  <Paragraphs>568</Paragraphs>
  <Slides>55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ＭＳ Ｐゴシック</vt:lpstr>
      <vt:lpstr>-apple-system</vt:lpstr>
      <vt:lpstr>Arial</vt:lpstr>
      <vt:lpstr>Calibri</vt:lpstr>
      <vt:lpstr>Roboto</vt:lpstr>
      <vt:lpstr>Rockwell</vt:lpstr>
      <vt:lpstr>Rockwell Condensed</vt:lpstr>
      <vt:lpstr>Symbol</vt:lpstr>
      <vt:lpstr>Times New Roman</vt:lpstr>
      <vt:lpstr>Wingdings</vt:lpstr>
      <vt:lpstr>1_Wood Type</vt:lpstr>
      <vt:lpstr>Equation</vt:lpstr>
      <vt:lpstr>Probability Review</vt:lpstr>
      <vt:lpstr>Probability Review</vt:lpstr>
      <vt:lpstr>Sample space and Events</vt:lpstr>
      <vt:lpstr>Probability Measure</vt:lpstr>
      <vt:lpstr>Visualization</vt:lpstr>
      <vt:lpstr>Conditional Probability</vt:lpstr>
      <vt:lpstr>Rule of total probability</vt:lpstr>
      <vt:lpstr>From Events to Random Variable</vt:lpstr>
      <vt:lpstr>Random Variables</vt:lpstr>
      <vt:lpstr>Discrete Random Variables</vt:lpstr>
      <vt:lpstr>Probability of Discrete RV</vt:lpstr>
      <vt:lpstr>Common Distributions</vt:lpstr>
      <vt:lpstr>Continuous Random Variables</vt:lpstr>
      <vt:lpstr>Probability of Continuous RV</vt:lpstr>
      <vt:lpstr>Cumulative Distribution Function</vt:lpstr>
      <vt:lpstr>Common Distributions</vt:lpstr>
      <vt:lpstr>Multivariate Normal</vt:lpstr>
      <vt:lpstr>Probability Review</vt:lpstr>
      <vt:lpstr>Joint Probability Distribution</vt:lpstr>
      <vt:lpstr>Chain Rule</vt:lpstr>
      <vt:lpstr>Conditional Probability</vt:lpstr>
      <vt:lpstr>Marginalization</vt:lpstr>
      <vt:lpstr>Marginalization Cont.</vt:lpstr>
      <vt:lpstr>Bayes Rule</vt:lpstr>
      <vt:lpstr>Bayes Rule cont.</vt:lpstr>
      <vt:lpstr>Probability Review</vt:lpstr>
      <vt:lpstr>Independence</vt:lpstr>
      <vt:lpstr>Independence</vt:lpstr>
      <vt:lpstr>CI: Conditional Independence</vt:lpstr>
      <vt:lpstr>Conditional Independence</vt:lpstr>
      <vt:lpstr>Probability Review</vt:lpstr>
      <vt:lpstr>Mean and Variance</vt:lpstr>
      <vt:lpstr>Mean and Variance</vt:lpstr>
      <vt:lpstr>Mean and Variance</vt:lpstr>
      <vt:lpstr>Properties</vt:lpstr>
      <vt:lpstr>Some more properties</vt:lpstr>
      <vt:lpstr>Some more properties</vt:lpstr>
      <vt:lpstr>Probability Review</vt:lpstr>
      <vt:lpstr>The Big Picture</vt:lpstr>
      <vt:lpstr>Statistical Inference</vt:lpstr>
      <vt:lpstr>Probability Review</vt:lpstr>
      <vt:lpstr>Monty Hall Problem</vt:lpstr>
      <vt:lpstr>PowerPoint Presentation</vt:lpstr>
      <vt:lpstr>Monty Hall Problem: Bayes Rule</vt:lpstr>
      <vt:lpstr>Monty Hall Problem: Bayes Rule cont.</vt:lpstr>
      <vt:lpstr>Monty Hall Problem: Bayes Rule cont.</vt:lpstr>
      <vt:lpstr>Monty Hall Problem: Bayes Rule cont.</vt:lpstr>
      <vt:lpstr>Information Theory</vt:lpstr>
      <vt:lpstr>Information Theory cont.</vt:lpstr>
      <vt:lpstr>Mutual Information: MI</vt:lpstr>
      <vt:lpstr>Chi Square Test for Independence (Example)</vt:lpstr>
      <vt:lpstr>Chi Square Test for Independence</vt:lpstr>
      <vt:lpstr>Chi Square Test for Independence</vt:lpstr>
      <vt:lpstr>Chi Square Test for Independence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Ajantha Devi Vairamani</cp:lastModifiedBy>
  <cp:revision>217</cp:revision>
  <dcterms:created xsi:type="dcterms:W3CDTF">2019-11-07T15:08:14Z</dcterms:created>
  <dcterms:modified xsi:type="dcterms:W3CDTF">2026-08-04T18:39:22Z</dcterms:modified>
</cp:coreProperties>
</file>