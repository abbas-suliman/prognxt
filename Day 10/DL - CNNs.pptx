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5"/>
  </p:notesMasterIdLst>
  <p:sldIdLst>
    <p:sldId id="402" r:id="rId2"/>
    <p:sldId id="257" r:id="rId3"/>
    <p:sldId id="258" r:id="rId4"/>
    <p:sldId id="259" r:id="rId5"/>
    <p:sldId id="260" r:id="rId6"/>
    <p:sldId id="261" r:id="rId7"/>
    <p:sldId id="403" r:id="rId8"/>
    <p:sldId id="262" r:id="rId9"/>
    <p:sldId id="264" r:id="rId10"/>
    <p:sldId id="263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456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6991" autoAdjust="0"/>
  </p:normalViewPr>
  <p:slideViewPr>
    <p:cSldViewPr snapToGrid="0">
      <p:cViewPr varScale="1">
        <p:scale>
          <a:sx n="85" d="100"/>
          <a:sy n="85" d="100"/>
        </p:scale>
        <p:origin x="10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3B6030-C8D6-4998-BC40-6851C04B56AD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BB7777-19EA-4DD2-88AD-7F9E2CE9BB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6079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B974C-F2D1-4537-B65D-53940C1B477A}" type="datetime1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Head, AP3 Solutions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A17D04DD-9F7C-43D5-AA61-A3E6C67F4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427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CE685-C180-44BF-BC99-52848E03CF0B}" type="datetime1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Head, AP3 Solutions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D04DD-9F7C-43D5-AA61-A3E6C67F4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7800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D050BA45-BDDE-4CAF-B88A-21DE20F42B6A}" type="datetime1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r>
              <a:rPr lang="en-US"/>
              <a:t>Dr.V.Ajantha Devi, Research Head, AP3 Solutions</a:t>
            </a:r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A17D04DD-9F7C-43D5-AA61-A3E6C67F4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852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A4FE8-FC47-4E1A-8CF0-565E7EB4DC3D}" type="datetime1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Head, AP3 Solutions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D04DD-9F7C-43D5-AA61-A3E6C67F4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386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3BE84-C0D8-4CAD-B91F-739C2853214A}" type="datetime1">
              <a:rPr lang="en-IN" smtClean="0"/>
              <a:t>09-08-2026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Head, AP3 Solutions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D04DD-9F7C-43D5-AA61-A3E6C67F4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6456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42290-8A71-402A-9978-26DCD52A5603}" type="datetime1">
              <a:rPr lang="en-IN" smtClean="0"/>
              <a:t>09-08-2026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Head, AP3 Solutions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D04DD-9F7C-43D5-AA61-A3E6C67F4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6132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A2CC5-EB58-425B-960C-734FB0C53AAE}" type="datetime1">
              <a:rPr lang="en-IN" smtClean="0"/>
              <a:t>09-08-2026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Head, AP3 Solutions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D04DD-9F7C-43D5-AA61-A3E6C67F4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4572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01C2-2E66-4364-887A-97BDEFD0AF36}" type="datetime1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Head, AP3 Solutions</a:t>
            </a:r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D04DD-9F7C-43D5-AA61-A3E6C67F4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9067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2AC08-2AF1-409E-A550-96D60749AFF3}" type="datetime1">
              <a:rPr lang="en-IN" smtClean="0"/>
              <a:t>09-08-2026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D04DD-9F7C-43D5-AA61-A3E6C67F4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218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A9BDA-73EB-47CA-8CBD-8C65962B8727}" type="datetime1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Head, AP3 Solutions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D04DD-9F7C-43D5-AA61-A3E6C67F4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8019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DE2D6-D348-478D-8C78-7C55727AC257}" type="datetime1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Head, AP3 Solutions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D04DD-9F7C-43D5-AA61-A3E6C67F4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920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EFF9D182-2A9F-4D57-A84F-1807DB9FEDB7}" type="datetime1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Dr.V.Ajantha Devi, Research Head, AP3 Solutions</a:t>
            </a:r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A17D04DD-9F7C-43D5-AA61-A3E6C67F4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135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60529-2E8E-6C81-B9F8-D2B6002AAA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6600" dirty="0">
                <a:latin typeface="Rockwell Condensed (Headings)"/>
              </a:rPr>
              <a:t>Evolution of Deep Learning Frameworks: CNNs, RNNs, LSTMs, Transformers towards LLM</a:t>
            </a:r>
            <a:endParaRPr lang="en-IN" sz="4000" dirty="0">
              <a:latin typeface="Rockwell Condensed (Headings)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0545B13-663E-4624-8C04-172E30899856}"/>
              </a:ext>
            </a:extLst>
          </p:cNvPr>
          <p:cNvSpPr txBox="1">
            <a:spLocks/>
          </p:cNvSpPr>
          <p:nvPr/>
        </p:nvSpPr>
        <p:spPr>
          <a:xfrm>
            <a:off x="1173480" y="4468031"/>
            <a:ext cx="6167886" cy="20538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err="1"/>
              <a:t>Dr.V.Ajantha</a:t>
            </a:r>
            <a:r>
              <a:rPr lang="en-US" b="1" dirty="0"/>
              <a:t> Devi</a:t>
            </a:r>
          </a:p>
          <a:p>
            <a:r>
              <a:rPr lang="en-US" dirty="0"/>
              <a:t>Research Head,</a:t>
            </a:r>
          </a:p>
        </p:txBody>
      </p:sp>
    </p:spTree>
    <p:extLst>
      <p:ext uri="{BB962C8B-B14F-4D97-AF65-F5344CB8AC3E}">
        <p14:creationId xmlns:p14="http://schemas.microsoft.com/office/powerpoint/2010/main" val="3257543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4344A-B5A2-CB06-D577-C0677A4CA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EA201-8DEB-5F3F-FB0B-E282EB41A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AD9C6-6347-4787-6B50-99567AA0C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E53BD-3443-4C13-B658-0E1A1C5C42A0}" type="slidenum">
              <a:rPr lang="en-IN" smtClean="0"/>
              <a:t>2</a:t>
            </a:fld>
            <a:endParaRPr lang="en-IN"/>
          </a:p>
        </p:txBody>
      </p:sp>
      <p:pic>
        <p:nvPicPr>
          <p:cNvPr id="1028" name="Picture 4" descr="Comparison Of AI ML And DL Training Ppt PPT PowerPoint">
            <a:extLst>
              <a:ext uri="{FF2B5EF4-FFF2-40B4-BE49-F238E27FC236}">
                <a16:creationId xmlns:a16="http://schemas.microsoft.com/office/drawing/2014/main" id="{02122FF2-7AB0-2737-E75C-B1497CF3AF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427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265EC98-6EB2-629E-277A-B6368392F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Head, AP3 Solutions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163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9857D-4899-6BF8-2CE6-E66643464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i="0" u="none" strike="noStrike" baseline="0" dirty="0">
                <a:solidFill>
                  <a:srgbClr val="242424"/>
                </a:solidFill>
                <a:latin typeface="Rockwell Condensed (Headings)"/>
              </a:rPr>
              <a:t>Basics: The Neuron</a:t>
            </a:r>
            <a:endParaRPr lang="en-IN" sz="8800" dirty="0">
              <a:latin typeface="Rockwell Condensed (Headings)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286F6-97E8-52CD-9F28-894439255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64C7-5510-8307-287A-C553DA83E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E53BD-3443-4C13-B658-0E1A1C5C42A0}" type="slidenum">
              <a:rPr lang="en-IN" smtClean="0"/>
              <a:t>3</a:t>
            </a:fld>
            <a:endParaRPr lang="en-IN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EB090BD-9691-3A5E-9043-CAA81FDC26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703" y="1700115"/>
            <a:ext cx="10661097" cy="448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36F8933-06D3-F4F5-DDC5-1A863C9FF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Head, AP3 Solutions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5555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B508A-83E7-C3F8-2B43-69DD308AB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i="0" u="none" strike="noStrike" baseline="0" dirty="0">
                <a:solidFill>
                  <a:srgbClr val="242424"/>
                </a:solidFill>
                <a:latin typeface="Rockwell Condensed (Headings)"/>
              </a:rPr>
              <a:t>Artificial Neural Networks</a:t>
            </a:r>
            <a:endParaRPr lang="en-IN" dirty="0">
              <a:latin typeface="Rockwell Condensed (Headings)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77FFA-3707-25BF-149C-80CC66CF5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C8CAB-C101-FC08-E110-CDCD38723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E53BD-3443-4C13-B658-0E1A1C5C42A0}" type="slidenum">
              <a:rPr lang="en-IN" smtClean="0"/>
              <a:t>4</a:t>
            </a:fld>
            <a:endParaRPr lang="en-IN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3813D9C-79A0-2B0A-7ECA-2AB84CA76F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233" y="2194559"/>
            <a:ext cx="10547567" cy="3989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C9899C2-08CD-4404-E817-D2F121C00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Head, AP3 Solutions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2616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8380E-5AA0-456F-08B4-0C2FF32DD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none" strike="noStrike" baseline="0" dirty="0">
                <a:solidFill>
                  <a:srgbClr val="242424"/>
                </a:solidFill>
                <a:latin typeface="Rockwell Condensed (Headings)"/>
              </a:rPr>
              <a:t>Types of Artificial Neural Networks</a:t>
            </a:r>
            <a:endParaRPr lang="en-IN" sz="8800" dirty="0">
              <a:latin typeface="Rockwell Condensed (Headings)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5B23604-D174-9D45-9327-19DC9A707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E53BD-3443-4C13-B658-0E1A1C5C42A0}" type="slidenum">
              <a:rPr lang="en-IN" smtClean="0"/>
              <a:t>5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1EAB376-F348-4FF1-6991-C16A5C78EA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045"/>
          <a:stretch/>
        </p:blipFill>
        <p:spPr>
          <a:xfrm>
            <a:off x="1338606" y="2073613"/>
            <a:ext cx="8173039" cy="3940688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8D1D19-4956-9A23-861E-716B02FF3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Head, AP3 Solutions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4928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35E6B-A2EA-1AC8-5D86-5EED188AC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u="none" strike="noStrike" baseline="0" dirty="0">
                <a:solidFill>
                  <a:srgbClr val="242424"/>
                </a:solidFill>
                <a:latin typeface="Rockwell Condensed (Headings)"/>
              </a:rPr>
              <a:t>Activation Functions </a:t>
            </a:r>
            <a:endParaRPr lang="en-IN" sz="8800" dirty="0">
              <a:latin typeface="Rockwell Condensed (Headings)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49454B9-6DEC-E055-CB95-99BA8812C0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sz="1800" b="1" i="1" u="none" strike="noStrike" baseline="0" dirty="0">
                <a:latin typeface="Copyright Klim Type Foundry"/>
              </a:rPr>
              <a:t>Linear Activation Function</a:t>
            </a:r>
            <a:endParaRPr lang="en-I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1E65B0A-ABA4-C536-1487-DFCFBF90F53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AF4E86F-5273-182C-261F-3C87456F29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92500" lnSpcReduction="20000"/>
          </a:bodyPr>
          <a:lstStyle/>
          <a:p>
            <a:endParaRPr lang="en-IN" sz="1800" b="0" i="0" u="none" strike="noStrike" baseline="0" dirty="0">
              <a:latin typeface="Copyright Klim Type Foundry"/>
            </a:endParaRPr>
          </a:p>
          <a:p>
            <a:r>
              <a:rPr lang="en-IN" sz="1800" b="1" i="1" u="none" strike="noStrike" baseline="0" dirty="0">
                <a:latin typeface="Copyright Klim Type Foundry"/>
              </a:rPr>
              <a:t>Non-linear Activation Function</a:t>
            </a:r>
            <a:endParaRPr lang="en-IN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A19EFA0-B544-E2FE-FBC1-09603129052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82A075F7-8BF5-79F8-8DAA-619E29D7F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E53BD-3443-4C13-B658-0E1A1C5C42A0}" type="slidenum">
              <a:rPr lang="en-IN" smtClean="0"/>
              <a:t>6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6D054D-74F3-01B4-E811-92A21F67B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528" y="3356610"/>
            <a:ext cx="3438525" cy="22479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741CD8F-7598-7266-0EB2-1EDAD15DD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4374" y="3478364"/>
            <a:ext cx="3494510" cy="222446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750CE8-81E9-D896-EF8A-D153279C1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Head, AP3 Solutions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129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35E6B-A2EA-1AC8-5D86-5EED188AC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u="none" strike="noStrike" baseline="0" dirty="0">
                <a:solidFill>
                  <a:srgbClr val="242424"/>
                </a:solidFill>
                <a:latin typeface="Rockwell Condensed (Headings)"/>
              </a:rPr>
              <a:t>Activation Functions </a:t>
            </a:r>
            <a:endParaRPr lang="en-IN" sz="8800" dirty="0">
              <a:latin typeface="Rockwell Condensed (Headings)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6DF6E7-11DF-5F9D-67D2-B7E64D3347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1E65B0A-ABA4-C536-1487-DFCFBF90F53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50CE171-19B5-81EE-1451-7151EAF444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A19EFA0-B544-E2FE-FBC1-09603129052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82A075F7-8BF5-79F8-8DAA-619E29D7F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E53BD-3443-4C13-B658-0E1A1C5C42A0}" type="slidenum">
              <a:rPr lang="en-IN" smtClean="0"/>
              <a:t>7</a:t>
            </a:fld>
            <a:endParaRPr lang="en-IN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CED08C9-0AA2-AF7B-7D1C-D7B15450C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364" y="2093976"/>
            <a:ext cx="9570424" cy="3947703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E06627-6696-94F3-A487-F27CBF03C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Head, AP3 Solutions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8138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017CD-24E4-3E5E-3419-098EE7256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baseline="0" dirty="0">
                <a:solidFill>
                  <a:srgbClr val="242424"/>
                </a:solidFill>
                <a:latin typeface="Rockwell Condensed (Headings)"/>
              </a:rPr>
              <a:t>Activation Functions </a:t>
            </a:r>
            <a:endParaRPr lang="en-IN" dirty="0">
              <a:latin typeface="Rockwell Condensed (Headings)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42749E-DE82-2FAD-A5D0-61CC03B012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571" y="1866507"/>
            <a:ext cx="10718276" cy="4128588"/>
          </a:xfr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079D4AC-ABF2-C4A2-4D32-F9C2370CB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E53BD-3443-4C13-B658-0E1A1C5C42A0}" type="slidenum">
              <a:rPr lang="en-IN" smtClean="0"/>
              <a:t>8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5F352A-5BED-9CDA-38CB-6EF33B516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Head, AP3 Solutions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6555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0D2F9-8D1E-C71E-8EC0-CBD5A1E0C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Neural Network In 5 Minutes">
            <a:hlinkClick r:id="" action="ppaction://media"/>
            <a:extLst>
              <a:ext uri="{FF2B5EF4-FFF2-40B4-BE49-F238E27FC236}">
                <a16:creationId xmlns:a16="http://schemas.microsoft.com/office/drawing/2014/main" id="{C21A002A-FE24-2B46-69EB-21E426E200D5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88134" y="1317585"/>
            <a:ext cx="10058399" cy="4616450"/>
          </a:xfr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80355A-7C14-A69F-FEBE-FD0E1891D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E53BD-3443-4C13-B658-0E1A1C5C42A0}" type="slidenum">
              <a:rPr lang="en-IN" smtClean="0"/>
              <a:t>9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55839A-D8FA-C584-AE36-5FF26D6E1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Head, AP3 Solutions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864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412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92534-7985-B138-35FF-209D90397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u="none" strike="noStrike" baseline="0" dirty="0">
                <a:solidFill>
                  <a:srgbClr val="242424"/>
                </a:solidFill>
                <a:latin typeface="Rockwell Condensed (Headings)"/>
              </a:rPr>
              <a:t>Backpropagation work</a:t>
            </a:r>
            <a:endParaRPr lang="en-IN" sz="8800" dirty="0">
              <a:latin typeface="Rockwell Condensed (Headings)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2D1BA-CA70-3104-3E77-B2218861D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B16A586-B0DF-E54F-80F5-08952B24B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E53BD-3443-4C13-B658-0E1A1C5C42A0}" type="slidenum">
              <a:rPr lang="en-IN" smtClean="0"/>
              <a:t>10</a:t>
            </a:fld>
            <a:endParaRPr lang="en-IN"/>
          </a:p>
        </p:txBody>
      </p:sp>
      <p:pic>
        <p:nvPicPr>
          <p:cNvPr id="4098" name="Picture 2" descr="What is backpropagation really doing? | Chapter 3, Deep learning - YouTube">
            <a:extLst>
              <a:ext uri="{FF2B5EF4-FFF2-40B4-BE49-F238E27FC236}">
                <a16:creationId xmlns:a16="http://schemas.microsoft.com/office/drawing/2014/main" id="{10C3B3D1-1041-2F66-A170-FD16F7E804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8594" y="1825625"/>
            <a:ext cx="7561587" cy="4234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165595-A4F2-EEBE-0919-B0B390488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Head, AP3 Solutions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9052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1D477-E1DD-2586-BFFF-6B3396F6A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u="none" strike="noStrike" baseline="0" dirty="0">
                <a:solidFill>
                  <a:srgbClr val="242424"/>
                </a:solidFill>
                <a:latin typeface="Rockwell Condensed (Headings)"/>
              </a:rPr>
              <a:t>The Problem Space</a:t>
            </a:r>
            <a:endParaRPr lang="en-IN" sz="8800" dirty="0">
              <a:latin typeface="Rockwell Condensed (Headings)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E3C52-AFBF-75A1-5720-597EEED240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795CDD-35B2-B5D2-75E8-63546F340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E53BD-3443-4C13-B658-0E1A1C5C42A0}" type="slidenum">
              <a:rPr lang="en-IN" smtClean="0"/>
              <a:t>11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31C829-A2F6-6F8D-23DE-4E926B749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574" y="2121408"/>
            <a:ext cx="9625702" cy="4050791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FA6323-E572-B628-C80E-C12D2366D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Head, AP3 Solutions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157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01EE4-E91C-5AAF-150C-680A73901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none" strike="noStrike" baseline="0" dirty="0">
                <a:solidFill>
                  <a:srgbClr val="242424"/>
                </a:solidFill>
                <a:latin typeface="Rockwell Condensed (Headings)"/>
              </a:rPr>
              <a:t>Structure of Convolutional Neural Network</a:t>
            </a:r>
            <a:endParaRPr lang="en-IN" sz="8800" dirty="0">
              <a:latin typeface="Rockwell Condensed (Headings)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ED91D-8994-5BD9-601E-15E5BD6B7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E2FD527-8241-B129-BE08-F7EE22F1B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E53BD-3443-4C13-B658-0E1A1C5C42A0}" type="slidenum">
              <a:rPr lang="en-IN" smtClean="0"/>
              <a:t>12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BFF204-2768-6E80-F069-63A7A11D7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26954"/>
            <a:ext cx="6554735" cy="25840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A2B4E4-6F33-93EA-3C8C-A6264519AE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0191" y="2271860"/>
            <a:ext cx="2863182" cy="313912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B8A1B5-EE28-6DA2-64F2-1E4C54B7B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Head, AP3 Solutions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2624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E300A-906D-919C-3972-2C37DE4B8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none" strike="noStrike" baseline="0" dirty="0">
                <a:solidFill>
                  <a:srgbClr val="242424"/>
                </a:solidFill>
                <a:latin typeface="Rockwell Condensed (Headings)"/>
              </a:rPr>
              <a:t>Convolutional Neural Network</a:t>
            </a:r>
            <a:endParaRPr lang="en-IN" dirty="0">
              <a:latin typeface="Rockwell Condensed (Headings)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31CED-A9F8-0A28-1888-41F1F5677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CDC06B-5A53-42A2-0F6A-C44BAB601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E53BD-3443-4C13-B658-0E1A1C5C42A0}" type="slidenum">
              <a:rPr lang="en-IN" smtClean="0"/>
              <a:t>13</a:t>
            </a:fld>
            <a:endParaRPr lang="en-IN"/>
          </a:p>
        </p:txBody>
      </p:sp>
      <p:pic>
        <p:nvPicPr>
          <p:cNvPr id="5122" name="Picture 2" descr="Convolutional Neural Network to identify the image of a bird">
            <a:extLst>
              <a:ext uri="{FF2B5EF4-FFF2-40B4-BE49-F238E27FC236}">
                <a16:creationId xmlns:a16="http://schemas.microsoft.com/office/drawing/2014/main" id="{B2DF304A-7AB5-A702-23C9-06B6F525B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67883"/>
            <a:ext cx="10118907" cy="3812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075A9E-153B-1CEC-BDB3-32B3B758B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Head, AP3 Solutions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56912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FB57A-B174-7571-271A-4AA12D1CC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Rockwell Condensed (Headings)"/>
              </a:rPr>
              <a:t>CNN - </a:t>
            </a:r>
            <a:r>
              <a:rPr lang="en-IN" b="1" i="0" dirty="0">
                <a:effectLst/>
                <a:latin typeface="Rockwell Condensed (Headings)"/>
              </a:rPr>
              <a:t>representation</a:t>
            </a:r>
            <a:endParaRPr lang="en-IN" b="1" dirty="0">
              <a:latin typeface="Rockwell Condensed (Headings)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0CD96-CBD4-F41C-5E44-3D7430C1B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A6A69-C9CD-B2B5-EB01-CC741C063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E53BD-3443-4C13-B658-0E1A1C5C42A0}" type="slidenum">
              <a:rPr lang="en-IN" smtClean="0"/>
              <a:t>14</a:t>
            </a:fld>
            <a:endParaRPr lang="en-IN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CB12E2F0-BF3E-5AE2-7352-AD3AD4D948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934" y="2121408"/>
            <a:ext cx="9874779" cy="379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04AA9F4-749B-D831-FA43-9FC0AACD0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Head, AP3 Solutions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65424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A6D94-B615-F127-71B4-943A3B040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72C37"/>
                </a:solidFill>
                <a:effectLst/>
                <a:latin typeface="Rockwell Condensed (Headings)"/>
              </a:rPr>
              <a:t>Convolution Layer</a:t>
            </a:r>
            <a:endParaRPr lang="en-IN" b="1" dirty="0">
              <a:latin typeface="Rockwell Condensed (Headings)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61466D-C5A8-923D-6764-7AAC10CF6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E53BD-3443-4C13-B658-0E1A1C5C42A0}" type="slidenum">
              <a:rPr lang="en-IN" smtClean="0"/>
              <a:t>15</a:t>
            </a:fld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554C15-B3EE-37FC-33AD-D54A0CB94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CCB3280-741E-2AAC-C5E5-EFBDD8F803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025" y="2093975"/>
            <a:ext cx="9505950" cy="4468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F3B4201-30DE-9BD5-5A19-78F105AAA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Head, AP3 Solutions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5111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A9CAF-D43A-9B7E-6020-8CD465833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EF0E4A1-FF20-B2F2-C4E6-55F37FB99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9DFF5A1-FB8D-6D53-8A85-1FFC75504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E53BD-3443-4C13-B658-0E1A1C5C42A0}" type="slidenum">
              <a:rPr lang="en-IN" smtClean="0"/>
              <a:t>16</a:t>
            </a:fld>
            <a:endParaRPr lang="en-IN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FA4ACE7-2E56-98D9-F009-FE81DD759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136" y="944380"/>
            <a:ext cx="10472935" cy="5227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93B83B-4242-8A02-2963-8F531F89E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Head, AP3 Solutions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60171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E3148-1238-E207-6348-459295703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72C37"/>
                </a:solidFill>
                <a:effectLst/>
                <a:latin typeface="Rockwell Condensed (Headings)"/>
              </a:rPr>
              <a:t>Pooling Layer</a:t>
            </a:r>
            <a:endParaRPr lang="en-IN" b="1" dirty="0">
              <a:latin typeface="Rockwell Condensed (Headings)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5F5C3-FBF0-1CD0-5B0D-89C08885A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B46F4-76F2-4B72-6260-D5F7F3521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E53BD-3443-4C13-B658-0E1A1C5C42A0}" type="slidenum">
              <a:rPr lang="en-IN" smtClean="0"/>
              <a:t>17</a:t>
            </a:fld>
            <a:endParaRPr lang="en-IN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A6BD3582-8678-1A91-3968-7875B2BB90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064" y="2472606"/>
            <a:ext cx="5674936" cy="300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D674FB54-5050-EA11-10F2-D8EA35394E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472606"/>
            <a:ext cx="5364637" cy="293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8140F89-41D1-4552-86F3-243C8C4AA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Head, AP3 Solutions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95780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34347-19A0-543F-D2FF-01D9F189E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chemeClr val="tx1"/>
                </a:solidFill>
                <a:effectLst/>
                <a:latin typeface="Rockwell Condensed (Headings)"/>
              </a:rPr>
              <a:t>Convolution neural network</a:t>
            </a:r>
            <a:endParaRPr lang="en-IN" b="1" dirty="0">
              <a:solidFill>
                <a:schemeClr val="tx1"/>
              </a:solidFill>
              <a:latin typeface="Rockwell Condensed (Headings)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0637B-851B-F1FA-B362-1388FE8E3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B3F24-0537-E533-F39C-1CC6E0B8F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E53BD-3443-4C13-B658-0E1A1C5C42A0}" type="slidenum">
              <a:rPr lang="en-IN" smtClean="0"/>
              <a:t>18</a:t>
            </a:fld>
            <a:endParaRPr lang="en-IN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B14C1874-1EF6-4352-020C-CA1C8B5900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163" y="1738313"/>
            <a:ext cx="10353675" cy="3381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BAA23D4-8ACC-E6B3-6038-A4D4FDA9A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Head, AP3 Solutions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92865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0BBEB-7A49-C7E9-4F2D-5C3B0ED1E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chemeClr val="tx1"/>
                </a:solidFill>
                <a:effectLst/>
                <a:latin typeface="Rockwell Condensed (Headings)"/>
              </a:rPr>
              <a:t>Convolution neural network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65A90-3795-6F15-E21A-16CC13D04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16F78-BD64-B76B-0AD0-B72D13A45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E53BD-3443-4C13-B658-0E1A1C5C42A0}" type="slidenum">
              <a:rPr lang="en-IN" smtClean="0"/>
              <a:t>19</a:t>
            </a:fld>
            <a:endParaRPr lang="en-IN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6756536D-4A91-7CD8-09E7-91A3623C10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568016"/>
            <a:ext cx="3139911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>
            <a:extLst>
              <a:ext uri="{FF2B5EF4-FFF2-40B4-BE49-F238E27FC236}">
                <a16:creationId xmlns:a16="http://schemas.microsoft.com/office/drawing/2014/main" id="{3578E540-1A86-E89A-5A58-EDF4847C3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1170" y="2488676"/>
            <a:ext cx="6871308" cy="2859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B168059-DA41-05E4-AF85-D39C44946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Head, AP3 Solutions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29054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47E43-8EFE-7FB3-2AE8-51D86ADE9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chemeClr val="tx1"/>
                </a:solidFill>
                <a:effectLst/>
                <a:latin typeface="Rockwell Condensed (Headings)"/>
              </a:rPr>
              <a:t>Fully connected layer</a:t>
            </a:r>
            <a:endParaRPr lang="en-IN" b="1" dirty="0">
              <a:solidFill>
                <a:schemeClr val="tx1"/>
              </a:solidFill>
              <a:latin typeface="Rockwell Condensed (Headings)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DB9D0-5806-C012-C66E-F4C141AF0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C6198-5D9A-A0F2-5172-ED7EF5002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E53BD-3443-4C13-B658-0E1A1C5C42A0}" type="slidenum">
              <a:rPr lang="en-IN" smtClean="0"/>
              <a:t>20</a:t>
            </a:fld>
            <a:endParaRPr lang="en-IN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B813EAB7-968E-9F87-943E-3818AC3084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413" y="1509713"/>
            <a:ext cx="10163175" cy="3838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3314F64-4DCE-7A4C-37CD-B1D60C400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Head, AP3 Solutions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70464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68201-F191-6DED-E289-69FD56CEA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chemeClr val="tx1"/>
                </a:solidFill>
                <a:effectLst/>
                <a:latin typeface="Rockwell Condensed (Headings)"/>
              </a:rPr>
              <a:t>Convolution neural network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87362-8D2B-4FB6-9EE6-D342C6D68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CCC29-9C69-D30E-FB81-C30407D50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E53BD-3443-4C13-B658-0E1A1C5C42A0}" type="slidenum">
              <a:rPr lang="en-IN" smtClean="0"/>
              <a:t>21</a:t>
            </a:fld>
            <a:endParaRPr lang="en-IN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172E5A54-B1B9-05B8-2B25-91137D7934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4975" y="1919288"/>
            <a:ext cx="8782050" cy="3708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55FAA8E-0418-583B-AA42-F539A796F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Head, AP3 Solutions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5571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84E42-0640-CC4A-EBB1-C0958999B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chemeClr val="tx1"/>
                </a:solidFill>
                <a:effectLst/>
                <a:latin typeface="Rockwell Condensed (Headings)"/>
              </a:rPr>
              <a:t>Convolution neural network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121E0-7C94-362B-9A91-97372FA78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7C0917-43E8-6DA1-CEBB-D29F35B87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E53BD-3443-4C13-B658-0E1A1C5C42A0}" type="slidenum">
              <a:rPr lang="en-IN" smtClean="0"/>
              <a:t>22</a:t>
            </a:fld>
            <a:endParaRPr lang="en-IN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B3D6D599-5235-4884-C81D-61B619FF9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475" y="1966913"/>
            <a:ext cx="9925050" cy="2924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324E86-8109-4FFF-4686-CE2231CE4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Dr.V.Ajantha Devi, Research Head, AP3 Solutions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764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7138635-A563-40CD-B9A3-7C6A14C7D6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A3FDD9-54F0-1DB9-CA04-4A0551F1CD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71525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382</TotalTime>
  <Words>358</Words>
  <Application>Microsoft Office PowerPoint</Application>
  <PresentationFormat>Widescreen</PresentationFormat>
  <Paragraphs>67</Paragraphs>
  <Slides>23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Calibri</vt:lpstr>
      <vt:lpstr>Copyright Klim Type Foundry</vt:lpstr>
      <vt:lpstr>Rockwell</vt:lpstr>
      <vt:lpstr>Rockwell Condensed</vt:lpstr>
      <vt:lpstr>Rockwell Condensed (Headings)</vt:lpstr>
      <vt:lpstr>Wingdings</vt:lpstr>
      <vt:lpstr>Wood Type</vt:lpstr>
      <vt:lpstr>Evolution of Deep Learning Frameworks: CNNs, RNNs, LSTMs, Transformers towards LLM</vt:lpstr>
      <vt:lpstr>PowerPoint Presentation</vt:lpstr>
      <vt:lpstr>Basics: The Neuron</vt:lpstr>
      <vt:lpstr>Artificial Neural Networks</vt:lpstr>
      <vt:lpstr>Types of Artificial Neural Networks</vt:lpstr>
      <vt:lpstr>Activation Functions </vt:lpstr>
      <vt:lpstr>Activation Functions </vt:lpstr>
      <vt:lpstr>Activation Functions </vt:lpstr>
      <vt:lpstr>PowerPoint Presentation</vt:lpstr>
      <vt:lpstr>Backpropagation work</vt:lpstr>
      <vt:lpstr>The Problem Space</vt:lpstr>
      <vt:lpstr>Structure of Convolutional Neural Network</vt:lpstr>
      <vt:lpstr>Convolutional Neural Network</vt:lpstr>
      <vt:lpstr>CNN - representation</vt:lpstr>
      <vt:lpstr>Convolution Layer</vt:lpstr>
      <vt:lpstr>PowerPoint Presentation</vt:lpstr>
      <vt:lpstr>Pooling Layer</vt:lpstr>
      <vt:lpstr>Convolution neural network</vt:lpstr>
      <vt:lpstr>Convolution neural network</vt:lpstr>
      <vt:lpstr>Fully connected layer</vt:lpstr>
      <vt:lpstr>Convolution neural network</vt:lpstr>
      <vt:lpstr>Convolution neural network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Ajantha Devi</dc:creator>
  <cp:lastModifiedBy>Ajantha Devi Vairamani</cp:lastModifiedBy>
  <cp:revision>11</cp:revision>
  <dcterms:created xsi:type="dcterms:W3CDTF">2025-06-22T04:27:49Z</dcterms:created>
  <dcterms:modified xsi:type="dcterms:W3CDTF">2026-08-09T14:38:35Z</dcterms:modified>
</cp:coreProperties>
</file>